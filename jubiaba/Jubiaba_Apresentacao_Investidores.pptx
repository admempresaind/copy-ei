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60" r:id="rId3"/>
    <p:sldId id="303" r:id="rId4"/>
    <p:sldId id="257" r:id="rId5"/>
    <p:sldId id="258" r:id="rId6"/>
    <p:sldId id="259" r:id="rId7"/>
    <p:sldId id="30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04" autoAdjust="0"/>
  </p:normalViewPr>
  <p:slideViewPr>
    <p:cSldViewPr snapToGrid="0" snapToObjects="1">
      <p:cViewPr varScale="1">
        <p:scale>
          <a:sx n="101" d="100"/>
          <a:sy n="101" d="100"/>
        </p:scale>
        <p:origin x="9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A7339-83F9-4644-9964-168E2248BF6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AC8DC-F8CE-443C-89FF-43377AC1B7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44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C8DC-F8CE-443C-89FF-43377AC1B76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5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D88A8A51-F3C5-51FA-364D-DBC9C4879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231958" y="0"/>
            <a:ext cx="12420719" cy="6858000"/>
          </a:xfrm>
          <a:prstGeom prst="rect">
            <a:avLst/>
          </a:prstGeom>
          <a:solidFill>
            <a:srgbClr val="0A0A0A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680000"/>
            <a:ext cx="12192119" cy="217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432000"/>
            <a:ext cx="7200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600" dirty="0">
                <a:solidFill>
                  <a:srgbClr val="00C2B3"/>
                </a:solidFill>
                <a:latin typeface="Calibri" charset="0"/>
                <a:cs typeface="Calibri" charset="0"/>
              </a:rPr>
              <a:t>APRESENTAÇÃO PARA INVESTIDORES  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702000"/>
            <a:ext cx="19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0000" y="2700000"/>
            <a:ext cx="10080000" cy="1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0" i="0" spc="2000">
                <a:solidFill>
                  <a:srgbClr val="FFFFFF"/>
                </a:solidFill>
                <a:latin typeface="Cambria" charset="0"/>
                <a:cs typeface="Cambria" charset="0"/>
              </a:rPr>
              <a:t>JUBIABÁ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320000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800">
                <a:solidFill>
                  <a:srgbClr val="F0EDE6"/>
                </a:solidFill>
                <a:latin typeface="Calibri" charset="0"/>
                <a:cs typeface="Calibri" charset="0"/>
              </a:rPr>
              <a:t>A PRÓXIMA FRONTEIRA DO LUXO NO NORDESTE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0000" y="5903999"/>
            <a:ext cx="11087999" cy="0"/>
          </a:xfrm>
          <a:prstGeom prst="line">
            <a:avLst/>
          </a:prstGeom>
          <a:ln w="9525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0000" y="6012000"/>
            <a:ext cx="111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800">
                <a:solidFill>
                  <a:srgbClr val="FFFFFF"/>
                </a:solidFill>
                <a:latin typeface="Calibri" charset="0"/>
                <a:cs typeface="Calibri" charset="0"/>
              </a:rPr>
              <a:t>GSWP    ×    KONIGSBERGER VANNUCCHI    ×    HAMAM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6300000"/>
            <a:ext cx="111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 spc="400">
                <a:solidFill>
                  <a:srgbClr val="9A9A9A"/>
                </a:solidFill>
                <a:latin typeface="Cambria" charset="0"/>
                <a:cs typeface="Cambria" charset="0"/>
              </a:rPr>
              <a:t>Praia dos Abais  ·  Estância  ·  Sergipe  · 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JURERÊ X JUBIABÁ</a:t>
            </a:r>
            <a:endParaRPr sz="1000" b="1" i="0" spc="400" dirty="0">
              <a:solidFill>
                <a:srgbClr val="00C2B3"/>
              </a:solidFill>
              <a:latin typeface="Calibri" charset="0"/>
              <a:cs typeface="Calibri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0000" y="828000"/>
            <a:ext cx="10800000" cy="1609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pt-BR" sz="3400" dirty="0">
                <a:solidFill>
                  <a:srgbClr val="FFFFFF"/>
                </a:solidFill>
                <a:latin typeface="Cambria" charset="0"/>
              </a:rPr>
              <a:t>A escala de Jurerê</a:t>
            </a:r>
            <a:br>
              <a:rPr lang="pt-BR" sz="3400" dirty="0">
                <a:solidFill>
                  <a:srgbClr val="FFFFFF"/>
                </a:solidFill>
                <a:latin typeface="Cambria" charset="0"/>
              </a:rPr>
            </a:br>
            <a:r>
              <a:rPr lang="pt-BR" sz="3400" dirty="0">
                <a:solidFill>
                  <a:srgbClr val="FFFFFF"/>
                </a:solidFill>
                <a:latin typeface="Cambria" charset="0"/>
              </a:rPr>
              <a:t>A singularidade de Sergipe</a:t>
            </a:r>
          </a:p>
          <a:p>
            <a:pPr algn="l">
              <a:lnSpc>
                <a:spcPct val="105000"/>
              </a:lnSpc>
            </a:pPr>
            <a:endParaRPr sz="3400" b="0" i="0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0000" y="2225700"/>
            <a:ext cx="7200000" cy="813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pt-BR" sz="2400" i="1" dirty="0">
                <a:solidFill>
                  <a:srgbClr val="FFFFFF"/>
                </a:solidFill>
                <a:latin typeface="Cambria" charset="0"/>
              </a:rPr>
              <a:t>Um terreno do tamanho de Jurerê Internacional</a:t>
            </a:r>
          </a:p>
          <a:p>
            <a:pPr algn="l">
              <a:lnSpc>
                <a:spcPct val="115000"/>
              </a:lnSpc>
            </a:pPr>
            <a:endParaRPr sz="2400" b="0" i="1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000" y="2928750"/>
            <a:ext cx="5994686" cy="2428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 dirty="0">
                <a:solidFill>
                  <a:srgbClr val="F0EDE6"/>
                </a:solidFill>
                <a:latin typeface="Calibri" charset="0"/>
                <a:cs typeface="Calibri" charset="0"/>
              </a:rPr>
              <a:t>Para dimensionar a ambição de Jubiabá, sobrepusemos o perímetro do empreendimento sobre o mapa de Jurerê Internacional, Florianópolis.</a:t>
            </a:r>
          </a:p>
          <a:p>
            <a:endParaRPr lang="pt-BR" sz="1400" dirty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r>
              <a:rPr lang="pt-BR" sz="1400" dirty="0">
                <a:solidFill>
                  <a:srgbClr val="F0EDE6"/>
                </a:solidFill>
                <a:latin typeface="Calibri" charset="0"/>
                <a:cs typeface="Calibri" charset="0"/>
              </a:rPr>
              <a:t>O resultado é evidente: estamos falando de uma extensão comparável ao bairro mais valorizado do Sul do Brasil. Só que em Sergipe, em solo ainda não explorado, com projeto integrado desde a primeira linha de planejamento e sob assinatura GSWP.</a:t>
            </a:r>
          </a:p>
          <a:p>
            <a:endParaRPr lang="pt-BR" sz="1400" dirty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r>
              <a:rPr lang="pt-BR" sz="1400" dirty="0">
                <a:solidFill>
                  <a:srgbClr val="F0EDE6"/>
                </a:solidFill>
                <a:latin typeface="Calibri" charset="0"/>
                <a:cs typeface="Calibri" charset="0"/>
              </a:rPr>
              <a:t>Em Jurerê, o metro quadrado supera R$ 20.000. Em Jubiabá, ainda partimos de R$ 4.000 a R$ 5.500/m². A janela de entrada é o próprio ativo.</a:t>
            </a:r>
          </a:p>
          <a:p>
            <a:pPr algn="l">
              <a:lnSpc>
                <a:spcPct val="140000"/>
              </a:lnSpc>
            </a:pPr>
            <a:endParaRPr sz="1400" b="0" i="0" dirty="0">
              <a:solidFill>
                <a:srgbClr val="F0EDE6"/>
              </a:solidFill>
              <a:latin typeface="Calibri" charset="0"/>
              <a:cs typeface="Calibri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0000" y="5267592"/>
            <a:ext cx="1830604" cy="11538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9999" y="5267592"/>
            <a:ext cx="45719" cy="1087488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000" y="5447592"/>
            <a:ext cx="2088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9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AREA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5699592"/>
            <a:ext cx="2088000" cy="356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2200" b="1" i="0" dirty="0">
                <a:solidFill>
                  <a:srgbClr val="FFFFFF"/>
                </a:solidFill>
                <a:latin typeface="Cambria" charset="0"/>
                <a:cs typeface="Cambria" charset="0"/>
              </a:rPr>
              <a:t>250 ha</a:t>
            </a:r>
            <a:endParaRPr sz="2200" b="1" i="0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639376" y="5267592"/>
            <a:ext cx="1830604" cy="11538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39375" y="5267592"/>
            <a:ext cx="45719" cy="1087488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5376" y="5447592"/>
            <a:ext cx="2088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9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VGV PROJETADO</a:t>
            </a:r>
            <a:endParaRPr sz="900" b="1" i="0" spc="400" dirty="0">
              <a:solidFill>
                <a:srgbClr val="00C2B3"/>
              </a:solidFill>
              <a:latin typeface="Calibri" charset="0"/>
              <a:cs typeface="Calibri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55376" y="5699592"/>
            <a:ext cx="2088000" cy="356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2200" b="1" i="0" dirty="0">
                <a:solidFill>
                  <a:srgbClr val="FFFFFF"/>
                </a:solidFill>
                <a:latin typeface="Cambria" charset="0"/>
                <a:cs typeface="Cambria" charset="0"/>
              </a:rPr>
              <a:t>R$ 2 BI</a:t>
            </a:r>
            <a:endParaRPr sz="2200" b="1" i="0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49801" y="5267592"/>
            <a:ext cx="1830604" cy="11538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49800" y="5267592"/>
            <a:ext cx="45719" cy="1087488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801" y="5447592"/>
            <a:ext cx="2088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9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FRENTE PRAIA</a:t>
            </a:r>
            <a:endParaRPr sz="900" b="1" i="0" spc="400" dirty="0">
              <a:solidFill>
                <a:srgbClr val="00C2B3"/>
              </a:solidFill>
              <a:latin typeface="Calibri" charset="0"/>
              <a:cs typeface="Calibri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5801" y="5699592"/>
            <a:ext cx="2088000" cy="356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2200" b="1" i="0" dirty="0">
                <a:solidFill>
                  <a:srgbClr val="FFFFFF"/>
                </a:solidFill>
                <a:latin typeface="Cambria" charset="0"/>
                <a:cs typeface="Cambria" charset="0"/>
              </a:rPr>
              <a:t>~2 Km</a:t>
            </a:r>
            <a:endParaRPr sz="2200" b="1" i="0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</a:t>
            </a: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</a:t>
            </a:r>
            <a:r>
              <a:rPr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 / </a:t>
            </a: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49</a:t>
            </a:r>
            <a:endParaRPr sz="800" b="0" i="0" spc="200" dirty="0">
              <a:solidFill>
                <a:srgbClr val="9A9A9A"/>
              </a:solidFill>
              <a:latin typeface="Calibri" charset="0"/>
              <a:cs typeface="Calibri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8D4085-8FC5-2175-DA5F-29028F4DD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19" y="735067"/>
            <a:ext cx="4824481" cy="503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8">
            <a:extLst>
              <a:ext uri="{FF2B5EF4-FFF2-40B4-BE49-F238E27FC236}">
                <a16:creationId xmlns:a16="http://schemas.microsoft.com/office/drawing/2014/main" id="{121B0509-7AE2-0CE2-C251-36E39155D936}"/>
              </a:ext>
            </a:extLst>
          </p:cNvPr>
          <p:cNvSpPr txBox="1"/>
          <p:nvPr/>
        </p:nvSpPr>
        <p:spPr>
          <a:xfrm>
            <a:off x="7208978" y="5964926"/>
            <a:ext cx="42552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 dirty="0">
                <a:solidFill>
                  <a:srgbClr val="F0EDE6"/>
                </a:solidFill>
                <a:latin typeface="Calibri" charset="0"/>
                <a:cs typeface="Calibri" charset="0"/>
              </a:rPr>
              <a:t>Jubiabá (roxo) sobreposto a Jurerê Internacional · Floripa</a:t>
            </a:r>
            <a:endParaRPr sz="1400" dirty="0">
              <a:solidFill>
                <a:srgbClr val="F0EDE6"/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4C1A-CC35-97B0-3A95-ED5ECCDD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19F1572-DB86-AA24-FBFF-D3C51F360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01"/>
            <a:ext cx="12192000" cy="6840797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10A68C5-1308-DAB0-9DDD-BCD87BA8D8DC}"/>
              </a:ext>
            </a:extLst>
          </p:cNvPr>
          <p:cNvSpPr/>
          <p:nvPr/>
        </p:nvSpPr>
        <p:spPr>
          <a:xfrm>
            <a:off x="-292608" y="0"/>
            <a:ext cx="12484727" cy="6858000"/>
          </a:xfrm>
          <a:prstGeom prst="rect">
            <a:avLst/>
          </a:prstGeom>
          <a:solidFill>
            <a:srgbClr val="0A0A0A">
              <a:alpha val="21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0388F-DA1B-ACF9-8628-EA27F4874892}"/>
              </a:ext>
            </a:extLst>
          </p:cNvPr>
          <p:cNvSpPr txBox="1"/>
          <p:nvPr/>
        </p:nvSpPr>
        <p:spPr>
          <a:xfrm>
            <a:off x="540000" y="828000"/>
            <a:ext cx="10800000" cy="511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pt-BR" sz="3400" dirty="0">
                <a:solidFill>
                  <a:srgbClr val="FFFFFF"/>
                </a:solidFill>
                <a:latin typeface="Cambria" charset="0"/>
                <a:cs typeface="Cambria" charset="0"/>
              </a:rPr>
              <a:t>Ativo Imobiliário Único...</a:t>
            </a:r>
            <a:endParaRPr sz="3400" b="0" i="0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788EE-F76E-7ABB-423B-DF4C042B3CE0}"/>
              </a:ext>
            </a:extLst>
          </p:cNvPr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</p:spTree>
    <p:extLst>
      <p:ext uri="{BB962C8B-B14F-4D97-AF65-F5344CB8AC3E}">
        <p14:creationId xmlns:p14="http://schemas.microsoft.com/office/powerpoint/2010/main" val="4163219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 MOMENTO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O litoral virgem como ativo.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 tecnologia integrada desde a fundação.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40000"/>
            <a:ext cx="6300000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0EDE6"/>
                </a:solidFill>
                <a:latin typeface="Cambria" charset="0"/>
                <a:cs typeface="Cambria" charset="0"/>
              </a:rPr>
              <a:t>Um projeto raro nasce na confluência de três fatores irrepetíveis: uma janela regulatória que se abriu após uma década de impasse, uma faixa de litoral virgem com 1.070m de praia exclusiva, e uma tríade executora de classe mundial.</a:t>
            </a:r>
          </a:p>
          <a:p>
            <a:pPr algn="l">
              <a:lnSpc>
                <a:spcPct val="140000"/>
              </a:lnSpc>
            </a:pPr>
            <a:endParaRPr sz="1500" b="0" i="0">
              <a:solidFill>
                <a:srgbClr val="F0EDE6"/>
              </a:solidFill>
              <a:latin typeface="Cambria" charset="0"/>
              <a:cs typeface="Cambria" charset="0"/>
            </a:endParaRP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0EDE6"/>
                </a:solidFill>
                <a:latin typeface="Cambria" charset="0"/>
                <a:cs typeface="Cambria" charset="0"/>
              </a:rPr>
              <a:t>Jubiabá não é um retrofit. Não é correção de um master plan antigo. É uma smart city de planta nova, projetada com tecnologia subterrânea desde a primeira linha do desenho.</a:t>
            </a:r>
          </a:p>
          <a:p>
            <a:pPr algn="l">
              <a:lnSpc>
                <a:spcPct val="140000"/>
              </a:lnSpc>
            </a:pPr>
            <a:endParaRPr sz="1500" b="0" i="0">
              <a:solidFill>
                <a:srgbClr val="F0EDE6"/>
              </a:solidFill>
              <a:latin typeface="Cambria" charset="0"/>
              <a:cs typeface="Cambria" charset="0"/>
            </a:endParaRP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0EDE6"/>
                </a:solidFill>
                <a:latin typeface="Cambria" charset="0"/>
                <a:cs typeface="Cambria" charset="0"/>
              </a:rPr>
              <a:t>A janela de entrada como sócio fundador está aberta. Por tempo limitado.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80000" y="2340000"/>
            <a:ext cx="424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96000" y="2484000"/>
            <a:ext cx="39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OS SEIS PILARES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6000" y="2970000"/>
            <a:ext cx="162000" cy="162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96000" y="2944800"/>
            <a:ext cx="16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mbria" charset="0"/>
                <a:cs typeface="Cambria" charset="0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3999" y="2952000"/>
            <a:ext cx="36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Não é retrofit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6000" y="3491999"/>
            <a:ext cx="162000" cy="162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96000" y="3466799"/>
            <a:ext cx="16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mbria" charset="0"/>
                <a:cs typeface="Cambria" charset="0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3999" y="3473999"/>
            <a:ext cx="36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Litoral virgem como ativo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6000" y="4014000"/>
            <a:ext cx="162000" cy="162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96000" y="3988800"/>
            <a:ext cx="16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mbria" charset="0"/>
                <a:cs typeface="Cambria" charset="0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3999" y="3996000"/>
            <a:ext cx="3600000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1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Sustentabilidade</a:t>
            </a:r>
            <a:r>
              <a:rPr sz="1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integrada</a:t>
            </a:r>
            <a:r>
              <a:rPr sz="1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desde</a:t>
            </a:r>
            <a:r>
              <a:rPr sz="1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a </a:t>
            </a:r>
            <a:r>
              <a:rPr sz="1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fundação</a:t>
            </a:r>
            <a:endParaRPr sz="1400" b="0" i="0" dirty="0">
              <a:solidFill>
                <a:srgbClr val="FFFFFF"/>
              </a:solidFill>
              <a:latin typeface="Cambria" charset="0"/>
              <a:cs typeface="Cambria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96000" y="4536000"/>
            <a:ext cx="162000" cy="162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96000" y="4510800"/>
            <a:ext cx="16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mbria" charset="0"/>
                <a:cs typeface="Cambria" charset="0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99" y="4518000"/>
            <a:ext cx="36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Paisagem como protagonista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96000" y="5058000"/>
            <a:ext cx="162000" cy="162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96000" y="5032800"/>
            <a:ext cx="16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mbria" charset="0"/>
                <a:cs typeface="Cambria" charset="0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3999" y="5040000"/>
            <a:ext cx="36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Desenvolvimento sustentável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96000" y="5580000"/>
            <a:ext cx="162000" cy="162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96000" y="5554800"/>
            <a:ext cx="16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Cambria" charset="0"/>
                <a:cs typeface="Cambria" charset="0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3999" y="5562000"/>
            <a:ext cx="36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Smart city de planta nova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</a:t>
            </a: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</a:t>
            </a:r>
            <a:r>
              <a:rPr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 / 4</a:t>
            </a: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9</a:t>
            </a:r>
            <a:endParaRPr sz="800" b="0" i="0" spc="200" dirty="0">
              <a:solidFill>
                <a:srgbClr val="9A9A9A"/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SUMÁRIO EXECUTIVO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Seis números que definem o projeto.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19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999" y="2520000"/>
            <a:ext cx="3294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FFFFF"/>
                </a:solidFill>
                <a:latin typeface="Cambria" charset="0"/>
                <a:cs typeface="Cambria" charset="0"/>
              </a:rPr>
              <a:t>129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3384000"/>
            <a:ext cx="329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HECTARES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3672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Fase 1   ·   potencial +70ha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2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2000" y="2340000"/>
            <a:ext cx="43200" cy="19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999" y="2520000"/>
            <a:ext cx="3294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FFFFF"/>
                </a:solidFill>
                <a:latin typeface="Cambria" charset="0"/>
                <a:cs typeface="Cambria" charset="0"/>
              </a:rPr>
              <a:t>1.070m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999" y="3384000"/>
            <a:ext cx="329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DE PRAIA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999" y="3672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Faixa exclusiva pé na areia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4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4000" y="2340000"/>
            <a:ext cx="43200" cy="19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5999" y="2520000"/>
            <a:ext cx="3294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FFFFF"/>
                </a:solidFill>
                <a:latin typeface="Cambria" charset="0"/>
                <a:cs typeface="Cambria" charset="0"/>
              </a:rPr>
              <a:t>R$ 2bi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999" y="3384000"/>
            <a:ext cx="329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VGV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999" y="3672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Projetado total do complexo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0000" y="4428000"/>
            <a:ext cx="43200" cy="19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1999" y="4608000"/>
            <a:ext cx="3294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FFFFF"/>
                </a:solidFill>
                <a:latin typeface="Cambria" charset="0"/>
                <a:cs typeface="Cambria" charset="0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999" y="5472000"/>
            <a:ext cx="329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PARCEIROS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999" y="5760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2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02000" y="4428000"/>
            <a:ext cx="43200" cy="19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999" y="4608000"/>
            <a:ext cx="3294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FFFFF"/>
                </a:solidFill>
                <a:latin typeface="Cambria" charset="0"/>
                <a:cs typeface="Cambria" charset="0"/>
              </a:rPr>
              <a:t>R$ 10mi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999" y="5472000"/>
            <a:ext cx="329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ROUND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999" y="5760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Captação em andamento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64000" y="4428000"/>
            <a:ext cx="43200" cy="19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15999" y="4608000"/>
            <a:ext cx="3294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FFFFF"/>
                </a:solidFill>
                <a:latin typeface="Cambria" charset="0"/>
                <a:cs typeface="Cambria" charset="0"/>
              </a:rPr>
              <a:t>Fase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999" y="5472000"/>
            <a:ext cx="329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AGORA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999" y="5760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Máxima janela como sócio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</a:t>
            </a: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5</a:t>
            </a:r>
            <a:r>
              <a:rPr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 / 4</a:t>
            </a: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9</a:t>
            </a:r>
            <a:endParaRPr sz="800" b="0" i="0" spc="200" dirty="0">
              <a:solidFill>
                <a:srgbClr val="9A9A9A"/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 TRÍADE EXECUTORA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Três operações de classe mundial. Uma única visão.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708000" cy="40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1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1999" y="3456000"/>
            <a:ext cx="756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1999" y="3564000"/>
            <a:ext cx="3204001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GSWP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4140000"/>
            <a:ext cx="3204001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INCORPORAÇÃO  ·  ESTRUTURAÇÃO  ·  GOVERNANÇA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99" y="4572000"/>
            <a:ext cx="3204001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Sistema construtivo proprietário. S.A. com patrimônio de afetação. Validada por fundos institucionais. Execução end-to-end sob governança auditada.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3999" y="2340000"/>
            <a:ext cx="3708000" cy="40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5998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25998" y="3456000"/>
            <a:ext cx="756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5998" y="3564000"/>
            <a:ext cx="3204001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KONIGSBERGER VANNUCCHI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998" y="4140000"/>
            <a:ext cx="3204001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MASTERPLAN  ·  ARQUITETURA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998" y="4572000"/>
            <a:ext cx="3204001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53 anos  ·  893 projetos  ·  R$ 18Bi de VGV  ·  107 arquitetos em 4 países. Prêmio Master Imobiliário. MIPIM 2026 Cannes. 14ª Bienal de Arquitetura.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7998" y="2340000"/>
            <a:ext cx="3708000" cy="40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9997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9997" y="3456000"/>
            <a:ext cx="756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9997" y="3564000"/>
            <a:ext cx="3204001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HAMAM 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9997" y="4140000"/>
            <a:ext cx="3204001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HOSPITALIDADE DO CONCEITO À ENTREGA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9997" y="4572000"/>
            <a:ext cx="3204001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26 anos  ·  +250 hotéis  ·  +70 marcas  ·  +43.000 chaves. Hubs em SP, Miami e Dubai. Eleita 6x melhor empresa de FF&amp;E/OS&amp;E da América Latina.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b="0" i="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06 / 49</a:t>
            </a:r>
            <a:endParaRPr sz="800" b="0" i="0" spc="200" dirty="0">
              <a:solidFill>
                <a:srgbClr val="9A9A9A"/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349D-193F-B74C-0348-68A36E04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AFDEBB-34EE-81A8-6098-09EADB0EB18F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ji-1599-2-1.jpg">
            <a:extLst>
              <a:ext uri="{FF2B5EF4-FFF2-40B4-BE49-F238E27FC236}">
                <a16:creationId xmlns:a16="http://schemas.microsoft.com/office/drawing/2014/main" id="{40FD17AB-FD3D-D5C3-392B-000A3A689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C134A-AAEA-8145-595C-CA1FFD163AEA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>
              <a:alpha val="21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3F56B-52D9-45A1-9897-ABF112CD5D33}"/>
              </a:ext>
            </a:extLst>
          </p:cNvPr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CONTEXTO MACRO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5D4E32E-4111-2587-F571-5B383885E661}"/>
              </a:ext>
            </a:extLst>
          </p:cNvPr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3769B1-5535-86B3-675F-A612B21E9748}"/>
              </a:ext>
            </a:extLst>
          </p:cNvPr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O Brasil de volta ao radar do capital global.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44C34-D96C-A19C-18AB-C6CBE0383D13}"/>
              </a:ext>
            </a:extLst>
          </p:cNvPr>
          <p:cNvSpPr txBox="1"/>
          <p:nvPr/>
        </p:nvSpPr>
        <p:spPr>
          <a:xfrm>
            <a:off x="540000" y="2340000"/>
            <a:ext cx="72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FFFFFF"/>
                </a:solidFill>
                <a:latin typeface="Cambria" charset="0"/>
                <a:cs typeface="Cambria" charset="0"/>
              </a:rPr>
              <a:t>BofA eleva projeção para o Ibovespa.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6F012-9F6C-B5FD-7E3D-FDF0D75E70D9}"/>
              </a:ext>
            </a:extLst>
          </p:cNvPr>
          <p:cNvSpPr txBox="1"/>
          <p:nvPr/>
        </p:nvSpPr>
        <p:spPr>
          <a:xfrm>
            <a:off x="540000" y="3024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0EDE6"/>
                </a:solidFill>
                <a:latin typeface="Calibri" charset="0"/>
                <a:cs typeface="Calibri" charset="0"/>
              </a:rPr>
              <a:t>Capital estrangeiro retorna a ativos reais brasileiros. Contexto favorável a alternativos imobiliários.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0632DD-97CE-52AC-A5DA-E7288C3C839D}"/>
              </a:ext>
            </a:extLst>
          </p:cNvPr>
          <p:cNvSpPr/>
          <p:nvPr/>
        </p:nvSpPr>
        <p:spPr>
          <a:xfrm>
            <a:off x="540000" y="3960000"/>
            <a:ext cx="2340000" cy="19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30B533-7BA9-26D1-EE5E-419317113512}"/>
              </a:ext>
            </a:extLst>
          </p:cNvPr>
          <p:cNvSpPr/>
          <p:nvPr/>
        </p:nvSpPr>
        <p:spPr>
          <a:xfrm>
            <a:off x="540000" y="3960000"/>
            <a:ext cx="43200" cy="19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7E6D6-77E3-D1D9-0A1B-B30E61A12CC2}"/>
              </a:ext>
            </a:extLst>
          </p:cNvPr>
          <p:cNvSpPr txBox="1"/>
          <p:nvPr/>
        </p:nvSpPr>
        <p:spPr>
          <a:xfrm>
            <a:off x="756000" y="4140000"/>
            <a:ext cx="208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CAPITAL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62FDC-DC44-46C3-39FA-C538C454C086}"/>
              </a:ext>
            </a:extLst>
          </p:cNvPr>
          <p:cNvSpPr txBox="1"/>
          <p:nvPr/>
        </p:nvSpPr>
        <p:spPr>
          <a:xfrm>
            <a:off x="756000" y="4392000"/>
            <a:ext cx="208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Estrangeiro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E9EFC-ED9D-C2CB-756D-47ABB3AEF8BC}"/>
              </a:ext>
            </a:extLst>
          </p:cNvPr>
          <p:cNvSpPr txBox="1"/>
          <p:nvPr/>
        </p:nvSpPr>
        <p:spPr>
          <a:xfrm>
            <a:off x="756000" y="5112000"/>
            <a:ext cx="2088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Volta a ativos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reais brasileiros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7A6EF9-2A80-EAED-7CF0-255DFDB604FC}"/>
              </a:ext>
            </a:extLst>
          </p:cNvPr>
          <p:cNvSpPr/>
          <p:nvPr/>
        </p:nvSpPr>
        <p:spPr>
          <a:xfrm>
            <a:off x="3060000" y="3960000"/>
            <a:ext cx="2340000" cy="19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1F382-0ACC-0DA8-E94F-6A54206DFD6E}"/>
              </a:ext>
            </a:extLst>
          </p:cNvPr>
          <p:cNvSpPr/>
          <p:nvPr/>
        </p:nvSpPr>
        <p:spPr>
          <a:xfrm>
            <a:off x="3060000" y="3960000"/>
            <a:ext cx="43200" cy="19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5D0B3-3F0C-F966-7411-EC3C6B08B3E4}"/>
              </a:ext>
            </a:extLst>
          </p:cNvPr>
          <p:cNvSpPr txBox="1"/>
          <p:nvPr/>
        </p:nvSpPr>
        <p:spPr>
          <a:xfrm>
            <a:off x="3276000" y="4140000"/>
            <a:ext cx="208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BOFA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D13BE-0B26-2062-13E9-9BE08853B51E}"/>
              </a:ext>
            </a:extLst>
          </p:cNvPr>
          <p:cNvSpPr txBox="1"/>
          <p:nvPr/>
        </p:nvSpPr>
        <p:spPr>
          <a:xfrm>
            <a:off x="3276000" y="4392000"/>
            <a:ext cx="208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Bullish BR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AC8074-3C2E-FB36-AA54-37EB096D9EC2}"/>
              </a:ext>
            </a:extLst>
          </p:cNvPr>
          <p:cNvSpPr txBox="1"/>
          <p:nvPr/>
        </p:nvSpPr>
        <p:spPr>
          <a:xfrm>
            <a:off x="3276000" y="5112000"/>
            <a:ext cx="2088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Projeção elevada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para o Ibovespa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EB4FE1B-8A5C-4621-A4E5-9A2865A715CF}"/>
              </a:ext>
            </a:extLst>
          </p:cNvPr>
          <p:cNvSpPr/>
          <p:nvPr/>
        </p:nvSpPr>
        <p:spPr>
          <a:xfrm>
            <a:off x="5580000" y="3960000"/>
            <a:ext cx="2340000" cy="19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B5C51B-93B1-AA31-BF27-D4EF4211C11C}"/>
              </a:ext>
            </a:extLst>
          </p:cNvPr>
          <p:cNvSpPr/>
          <p:nvPr/>
        </p:nvSpPr>
        <p:spPr>
          <a:xfrm>
            <a:off x="5580000" y="3960000"/>
            <a:ext cx="43200" cy="19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F33FB5-7C07-681D-9EE1-2BE184E5550E}"/>
              </a:ext>
            </a:extLst>
          </p:cNvPr>
          <p:cNvSpPr txBox="1"/>
          <p:nvPr/>
        </p:nvSpPr>
        <p:spPr>
          <a:xfrm>
            <a:off x="5796000" y="4140000"/>
            <a:ext cx="208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HNWI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C7C56F-3B80-71BD-5F86-DF1E30743FB3}"/>
              </a:ext>
            </a:extLst>
          </p:cNvPr>
          <p:cNvSpPr txBox="1"/>
          <p:nvPr/>
        </p:nvSpPr>
        <p:spPr>
          <a:xfrm>
            <a:off x="5796000" y="4392000"/>
            <a:ext cx="208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Real Estate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EF81E4-C616-2BCF-0428-6D698D9D7700}"/>
              </a:ext>
            </a:extLst>
          </p:cNvPr>
          <p:cNvSpPr txBox="1"/>
          <p:nvPr/>
        </p:nvSpPr>
        <p:spPr>
          <a:xfrm>
            <a:off x="5796000" y="5112000"/>
            <a:ext cx="2088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Demanda por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alternativos premium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64E318-7843-7EEA-E276-81195FC76245}"/>
              </a:ext>
            </a:extLst>
          </p:cNvPr>
          <p:cNvSpPr txBox="1"/>
          <p:nvPr/>
        </p:nvSpPr>
        <p:spPr>
          <a:xfrm>
            <a:off x="540000" y="6282000"/>
            <a:ext cx="720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9A9A9A"/>
                </a:solidFill>
                <a:latin typeface="Calibri" charset="0"/>
                <a:cs typeface="Calibri" charset="0"/>
              </a:rPr>
              <a:t>Fonte: InfoMoney  ·  Bloomberg Linea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A43A3C-6140-7C15-9F33-D1E69B71FFAA}"/>
              </a:ext>
            </a:extLst>
          </p:cNvPr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E5FEC8-C737-5040-9C86-25A14F4B9979}"/>
              </a:ext>
            </a:extLst>
          </p:cNvPr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07 / 49</a:t>
            </a:r>
          </a:p>
        </p:txBody>
      </p:sp>
    </p:spTree>
    <p:extLst>
      <p:ext uri="{BB962C8B-B14F-4D97-AF65-F5344CB8AC3E}">
        <p14:creationId xmlns:p14="http://schemas.microsoft.com/office/powerpoint/2010/main" val="348353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aia-do-saco-um-paraiso-proximo-de-aracaju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>
              <a:alpha val="21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NORDESTE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Aceleração estrutural sem precedentes.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11088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2465999"/>
            <a:ext cx="21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C2B3"/>
                </a:solidFill>
                <a:latin typeface="Cambria" charset="0"/>
                <a:cs typeface="Cambria" charset="0"/>
              </a:rPr>
              <a:t>+20,85%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484000"/>
            <a:ext cx="288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SALVADOR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0" y="2538000"/>
            <a:ext cx="568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F0EDE6"/>
                </a:solidFill>
                <a:latin typeface="Calibri" charset="0"/>
                <a:cs typeface="Calibri" charset="0"/>
              </a:rPr>
              <a:t>Maior </a:t>
            </a:r>
            <a:r>
              <a:rPr sz="1000" b="0" i="0" dirty="0" err="1">
                <a:solidFill>
                  <a:srgbClr val="F0EDE6"/>
                </a:solidFill>
                <a:latin typeface="Calibri" charset="0"/>
                <a:cs typeface="Calibri" charset="0"/>
              </a:rPr>
              <a:t>valorização</a:t>
            </a:r>
            <a:r>
              <a:rPr sz="1000" b="0" i="0" dirty="0">
                <a:solidFill>
                  <a:srgbClr val="F0EDE6"/>
                </a:solidFill>
                <a:latin typeface="Calibri" charset="0"/>
                <a:cs typeface="Calibri" charset="0"/>
              </a:rPr>
              <a:t> entre </a:t>
            </a:r>
            <a:r>
              <a:rPr sz="1000" b="0" i="0" dirty="0" err="1">
                <a:solidFill>
                  <a:srgbClr val="F0EDE6"/>
                </a:solidFill>
                <a:latin typeface="Calibri" charset="0"/>
                <a:cs typeface="Calibri" charset="0"/>
              </a:rPr>
              <a:t>capitais</a:t>
            </a:r>
            <a:r>
              <a:rPr sz="1000" b="0" i="0" dirty="0">
                <a:solidFill>
                  <a:srgbClr val="F0EDE6"/>
                </a:solidFill>
                <a:latin typeface="Calibri" charset="0"/>
                <a:cs typeface="Calibri" charset="0"/>
              </a:rPr>
              <a:t>  ·  </a:t>
            </a:r>
            <a:r>
              <a:rPr sz="1000" b="0" i="0" dirty="0" err="1">
                <a:solidFill>
                  <a:srgbClr val="F0EDE6"/>
                </a:solidFill>
                <a:latin typeface="Calibri" charset="0"/>
                <a:cs typeface="Calibri" charset="0"/>
              </a:rPr>
              <a:t>FipeZAP</a:t>
            </a:r>
            <a:r>
              <a:rPr sz="1000" b="0" i="0" dirty="0">
                <a:solidFill>
                  <a:srgbClr val="F0EDE6"/>
                </a:solidFill>
                <a:latin typeface="Calibri" charset="0"/>
                <a:cs typeface="Calibri" charset="0"/>
              </a:rPr>
              <a:t> Mai/2025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077999"/>
            <a:ext cx="11088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000" y="3203998"/>
            <a:ext cx="21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C2B3"/>
                </a:solidFill>
                <a:latin typeface="Cambria" charset="0"/>
                <a:cs typeface="Cambria" charset="0"/>
              </a:rPr>
              <a:t>3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3221999"/>
            <a:ext cx="288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RANKING 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275999"/>
            <a:ext cx="568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Três das cinco capitais mais valorizadas do país são do 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815998"/>
            <a:ext cx="11088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3941997"/>
            <a:ext cx="21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C2B3"/>
                </a:solidFill>
                <a:latin typeface="Cambria" charset="0"/>
                <a:cs typeface="Cambria" charset="0"/>
              </a:rPr>
              <a:t>+85%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000" y="3959998"/>
            <a:ext cx="288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LUXO &amp; SUPERLUXO 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4013998"/>
            <a:ext cx="568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Crescimento em apenas 2 anos  ·  Fonte: CBIC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4553997"/>
            <a:ext cx="11088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000" y="4679996"/>
            <a:ext cx="21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C2B3"/>
                </a:solidFill>
                <a:latin typeface="Cambria" charset="0"/>
                <a:cs typeface="Cambria" charset="0"/>
              </a:rPr>
              <a:t>+80,3%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" y="4697997"/>
            <a:ext cx="288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SERGIPE VGV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4751997"/>
            <a:ext cx="568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Maior crescimento de VGV do Nordeste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5291996"/>
            <a:ext cx="11088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000" y="5417995"/>
            <a:ext cx="21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C2B3"/>
                </a:solidFill>
                <a:latin typeface="Cambria" charset="0"/>
                <a:cs typeface="Cambria" charset="0"/>
              </a:rPr>
              <a:t>+20,5%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00" y="5435996"/>
            <a:ext cx="288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LANÇAMENTOS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0000" y="5489996"/>
            <a:ext cx="568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Crescimento regional ano contra 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 PARADOXO SERGIPANO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 janela que se abre agora.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24800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"</a:t>
            </a:r>
            <a:r>
              <a:rPr sz="2000" b="0" i="1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Enquanto</a:t>
            </a: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 o Nordeste </a:t>
            </a:r>
            <a:r>
              <a:rPr sz="2000" b="0" i="1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explodia</a:t>
            </a: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 de valor, Sergipe </a:t>
            </a:r>
            <a:r>
              <a:rPr sz="2000" b="0" i="1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estava</a:t>
            </a: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2000" b="0" i="1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travada</a:t>
            </a: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.</a:t>
            </a:r>
          </a:p>
          <a:p>
            <a:pPr algn="l">
              <a:lnSpc>
                <a:spcPct val="130000"/>
              </a:lnSpc>
            </a:pP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Essa </a:t>
            </a:r>
            <a:r>
              <a:rPr sz="2000" b="0" i="1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janela</a:t>
            </a: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 se </a:t>
            </a:r>
            <a:r>
              <a:rPr sz="2000" b="0" i="1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abre</a:t>
            </a:r>
            <a:r>
              <a:rPr sz="2000" b="0" i="1" dirty="0">
                <a:solidFill>
                  <a:srgbClr val="FFFFFF"/>
                </a:solidFill>
                <a:latin typeface="Cambria" charset="0"/>
                <a:cs typeface="Cambria" charset="0"/>
              </a:rPr>
              <a:t> agora."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819925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BENCHMARK  ·  SUPERLUXO FRENTE MAR  ·  NOVOS LANÇAMENTOS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3179925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3251925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3251925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ALTO PADRÃO NOVOS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3251925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ALTO LUXO FRENTE MAR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485925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0000" y="3557925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Salvador (BA)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3565125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R$ 18.000 - 22.000 /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3565125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R$ 28.000 - 35.000 /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863925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Maceió (AL)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3871125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R$ 18.000 - 22.000 / 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3871125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R$ 28.000 - 35.000 /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4097925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000" y="4169925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Praia do Forte (BA)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0" y="4177125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R$ 20.000 - 25.000 / 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0" y="4177125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R$ 30.000 - 40.000 / 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4475925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Jurerê Internacional (SC)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0" y="4483125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R$ 25.000 - 30.000 / 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0" y="4483125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R$ 35.000+ / m²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709925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000" y="4781925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Aracaju beira-mar (novos)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4789125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R$ 14.000 - 16.000 /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0" y="4789125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" y="5385300"/>
            <a:ext cx="11088000" cy="792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0000" y="5385300"/>
            <a:ext cx="43200" cy="792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2000" y="5493300"/>
            <a:ext cx="1044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Cambria" charset="0"/>
                <a:cs typeface="Cambria" charset="0"/>
              </a:rPr>
              <a:t>"Estância não foi esquecida por falta de valor. Foi travada por fatores regulatórios e judiciais.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Cambria" charset="0"/>
                <a:cs typeface="Cambria" charset="0"/>
              </a:rPr>
              <a:t>O estado mais seguro do Nordeste — os holofotes voltam agora."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55067858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" y="0"/>
            <a:ext cx="12192119" cy="6858000"/>
          </a:xfrm>
          <a:prstGeom prst="rect">
            <a:avLst/>
          </a:prstGeom>
        </p:spPr>
      </p:pic>
      <p:sp>
        <p:nvSpPr>
          <p:cNvPr id="28" name="Rectangle 6"/>
          <p:cNvSpPr/>
          <p:nvPr/>
        </p:nvSpPr>
        <p:spPr>
          <a:xfrm>
            <a:off x="-137160" y="1"/>
            <a:ext cx="12417552" cy="685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OS TRÊS CATALISADORES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O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que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destravou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Estância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depois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de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uma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década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708000" cy="40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1999" y="2520000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1999" y="3600000"/>
            <a:ext cx="3204002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1999" y="3708000"/>
            <a:ext cx="3204001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JUDICIAL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4068000"/>
            <a:ext cx="3204001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Acordo homologado pela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Justiça Federal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99" y="5040000"/>
            <a:ext cx="3204001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Impasse de 10 anos encerrado.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MPF + Gov. SE + Ibama + Adema + Prefeitura.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3999" y="2340000"/>
            <a:ext cx="3708000" cy="40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5998" y="2520000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00C2B3"/>
                </a:solidFill>
                <a:latin typeface="Cambria" charset="0"/>
                <a:cs typeface="Cambria" charset="0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25998" y="3600000"/>
            <a:ext cx="3204002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5998" y="3708000"/>
            <a:ext cx="3204001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REGULATÓRIO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998" y="4068000"/>
            <a:ext cx="3204001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Novo Plano Diretor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aprovado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998" y="5040000"/>
            <a:ext cx="3204001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De zona rural (lote mínimo 20.000m²)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para desenvolvimento urbano com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gabarito de até 7 pavimentos.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7998" y="2340000"/>
            <a:ext cx="3708000" cy="40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9997" y="2520000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00C2B3"/>
                </a:solidFill>
                <a:latin typeface="Cambria" charset="0"/>
                <a:cs typeface="Cambria" charset="0"/>
              </a:rP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9997" y="3600000"/>
            <a:ext cx="3204002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9997" y="3708000"/>
            <a:ext cx="3204001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MERCADO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9997" y="4068000"/>
            <a:ext cx="3204001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Aracaju beira-mar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a R$ 14k-16k/m²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9997" y="5040000"/>
            <a:ext cx="3204001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Correção chegou à capital.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O litoral sul ainda não foi precificado.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PROJEÇÃO DE DEMANDA / TAM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Quatro quadrantes de demanda convergem.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544000" cy="14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140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999" y="2484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2772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Raio 150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3312000"/>
            <a:ext cx="504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~115.000 potenciais compradores  ·  primeira e segunda residência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2000" y="2340000"/>
            <a:ext cx="5544000" cy="14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2000" y="2340000"/>
            <a:ext cx="43200" cy="140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3999" y="2484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REGIONAL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999" y="2772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Nordeste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999" y="3312000"/>
            <a:ext cx="504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Salvador  ·  Recife  ·  Maceió  ·  destino premium fins de semana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852000"/>
            <a:ext cx="5544000" cy="14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000" y="3852000"/>
            <a:ext cx="43200" cy="140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1999" y="3996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NACIONAL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99" y="4284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SP  ·  MG  ·  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999" y="4824000"/>
            <a:ext cx="504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HNWIs  ·  second homes de inverno  ·  investidores de rentabilidade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2000" y="3852000"/>
            <a:ext cx="5544000" cy="14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2000" y="3852000"/>
            <a:ext cx="43200" cy="140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3999" y="3996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INTERNACIONAL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999" y="4284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Europa &amp; Américas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3999" y="4824000"/>
            <a:ext cx="504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Turismo de luxo global  ·  nômades digitais 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5544000"/>
            <a:ext cx="11088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B8942E"/>
                </a:solidFill>
                <a:latin typeface="Cambria" charset="0"/>
                <a:cs typeface="Cambria" charset="0"/>
              </a:rPr>
              <a:t>"Ecossistema contínuo — atrai o comprador e o investidor — gerando ciclo virtuoso de demanda."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BENCHMARKING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O efeito first mover comprovado.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2772000" cy="37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2520000"/>
            <a:ext cx="252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JURERÊ INT.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0000" y="2843999"/>
            <a:ext cx="720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2000"/>
            <a:ext cx="25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Consolidado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032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VALORIZAÇÃO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284000"/>
            <a:ext cx="252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mbria" charset="0"/>
                <a:cs typeface="Cambria" charset="0"/>
              </a:rPr>
              <a:t>4x - 5x / 10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968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PERFIL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220000"/>
            <a:ext cx="2520000" cy="82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Master plan + infraestrutura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4000" y="2340000"/>
            <a:ext cx="2772000" cy="37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4000" y="2520000"/>
            <a:ext cx="252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TRANCOSO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4000" y="2843999"/>
            <a:ext cx="720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4000" y="2952000"/>
            <a:ext cx="25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Consolidado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4000" y="4032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VALORIZAÇÃO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4000" y="4284000"/>
            <a:ext cx="252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mbria" charset="0"/>
                <a:cs typeface="Cambria" charset="0"/>
              </a:rPr>
              <a:t>3x - 4x / 15 anos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4000" y="4968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PERFIL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4000" y="5220000"/>
            <a:ext cx="2520000" cy="82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Charme orgânico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8000" y="2340000"/>
            <a:ext cx="2772000" cy="37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8000" y="2520000"/>
            <a:ext cx="252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JERICOACOARA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8000" y="2843999"/>
            <a:ext cx="720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8000" y="2952000"/>
            <a:ext cx="25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Emergente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8000" y="4032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VALORIZAÇÃO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8000" y="4284000"/>
            <a:ext cx="252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mbria" charset="0"/>
                <a:cs typeface="Cambria" charset="0"/>
              </a:rPr>
              <a:t>Acelerado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8000" y="4968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PERFIL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0" y="5220000"/>
            <a:ext cx="2520000" cy="82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Aeroporto catalisador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2000" y="2340000"/>
            <a:ext cx="2772000" cy="3780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52000" y="2520000"/>
            <a:ext cx="252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JUBIABÁ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52000" y="2843999"/>
            <a:ext cx="720000" cy="0"/>
          </a:xfrm>
          <a:prstGeom prst="line">
            <a:avLst/>
          </a:prstGeom>
          <a:ln w="127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52000" y="2952000"/>
            <a:ext cx="25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Cambria" charset="0"/>
                <a:cs typeface="Cambria" charset="0"/>
              </a:rPr>
              <a:t>A Nova Fronteira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2000" y="4032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VALORIZAÇÃO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2000" y="4284000"/>
            <a:ext cx="252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0A0A0A"/>
                </a:solidFill>
                <a:latin typeface="Cambria" charset="0"/>
                <a:cs typeface="Cambria" charset="0"/>
              </a:rPr>
              <a:t>3x - 6x / 4-5 anos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2000" y="4968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PERFIL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2000" y="5220000"/>
            <a:ext cx="2520000" cy="82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A0A0A"/>
                </a:solidFill>
                <a:latin typeface="Calibri" charset="0"/>
                <a:cs typeface="Calibri" charset="0"/>
              </a:rPr>
              <a:t>KV + Hamam + Smart 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6263999"/>
            <a:ext cx="1108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B8942E"/>
                </a:solidFill>
                <a:latin typeface="Cambria" charset="0"/>
                <a:cs typeface="Cambria" charset="0"/>
              </a:rPr>
              <a:t>"O investidor da Fase 1 entra no momento de máxima assimetria — captura a curva que Jurerê e Trancoso já esgotaram."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 CONVERGÊNCIA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O custo de conversão versus o mercado precificado.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610000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 charset="0"/>
                <a:cs typeface="Calibri" charset="0"/>
              </a:rPr>
              <a:t>Jurerê / Trancoso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8000" y="2682000"/>
            <a:ext cx="6480000" cy="216000"/>
          </a:xfrm>
          <a:prstGeom prst="rect">
            <a:avLst/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48000" y="2682000"/>
            <a:ext cx="6480000" cy="216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00000" y="2610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9A9A"/>
                </a:solidFill>
                <a:latin typeface="Cambria" charset="0"/>
                <a:cs typeface="Cambria" charset="0"/>
              </a:rPr>
              <a:t>R$ 35.000/m²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311999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 charset="0"/>
                <a:cs typeface="Calibri" charset="0"/>
              </a:rPr>
              <a:t>Salvador / Maceió superluxo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8000" y="3383999"/>
            <a:ext cx="6480000" cy="216000"/>
          </a:xfrm>
          <a:prstGeom prst="rect">
            <a:avLst/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48000" y="3383999"/>
            <a:ext cx="5832000" cy="216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00000" y="3311999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9A9A"/>
                </a:solidFill>
                <a:latin typeface="Cambria" charset="0"/>
                <a:cs typeface="Cambria" charset="0"/>
              </a:rPr>
              <a:t>R$ 31.500/m²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4013998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 charset="0"/>
                <a:cs typeface="Calibri" charset="0"/>
              </a:rPr>
              <a:t>Aracaju beira-mar (novos)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8000" y="4085998"/>
            <a:ext cx="6480000" cy="216000"/>
          </a:xfrm>
          <a:prstGeom prst="rect">
            <a:avLst/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8000" y="4085998"/>
            <a:ext cx="2777142" cy="216000"/>
          </a:xfrm>
          <a:prstGeom prst="rect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00000" y="4013998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R$ 15.000/m²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4715997"/>
            <a:ext cx="36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 charset="0"/>
                <a:cs typeface="Calibri" charset="0"/>
              </a:rPr>
              <a:t>JUBIABÁ  ·  custo de conversão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8000" y="4787997"/>
            <a:ext cx="6480000" cy="216000"/>
          </a:xfrm>
          <a:prstGeom prst="rect">
            <a:avLst/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48000" y="4787997"/>
            <a:ext cx="879428" cy="21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00000" y="4715997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C2B3"/>
                </a:solidFill>
                <a:latin typeface="Cambria" charset="0"/>
                <a:cs typeface="Cambria" charset="0"/>
              </a:rPr>
              <a:t>R$ 4.750/m²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5580000"/>
            <a:ext cx="11088000" cy="72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0000" y="5580000"/>
            <a:ext cx="43200" cy="72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000" y="5688000"/>
            <a:ext cx="1044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mbria" charset="0"/>
                <a:cs typeface="Cambria" charset="0"/>
              </a:rPr>
              <a:t>Custo de conversão da cota ≠ preço de venda do imóvel.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mbria" charset="0"/>
                <a:cs typeface="Cambria" charset="0"/>
              </a:rPr>
              <a:t>Projeção de lançamento Fase 3:  R$ 14.000 - 16.000 / m².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55068294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1" name="Rectangle 6">
            <a:extLst>
              <a:ext uri="{FF2B5EF4-FFF2-40B4-BE49-F238E27FC236}">
                <a16:creationId xmlns:a16="http://schemas.microsoft.com/office/drawing/2014/main" id="{847FBA8A-F3CE-41D2-ED38-442E91BACE5D}"/>
              </a:ext>
            </a:extLst>
          </p:cNvPr>
          <p:cNvSpPr/>
          <p:nvPr/>
        </p:nvSpPr>
        <p:spPr>
          <a:xfrm>
            <a:off x="-137160" y="1"/>
            <a:ext cx="12417552" cy="685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 JANELA QUE SE FECHA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As quatro fases do ciclo de Jubiabá.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592000"/>
            <a:ext cx="2664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2736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0" i="0">
                <a:solidFill>
                  <a:srgbClr val="FFFFFF"/>
                </a:solidFill>
                <a:latin typeface="Cambria" charset="0"/>
                <a:cs typeface="Cambria" charset="0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816000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CONCEPÇÃO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104000"/>
            <a:ext cx="2304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FFFFFF"/>
                </a:solidFill>
                <a:latin typeface="Cambria" charset="0"/>
                <a:cs typeface="Cambria" charset="0"/>
              </a:rPr>
              <a:t>✓ Concluída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2304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GSWP assumiu 100% do risco inicial.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9999" y="2592000"/>
            <a:ext cx="2664000" cy="3060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9999" y="2736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0" i="0">
                <a:solidFill>
                  <a:srgbClr val="0A0A0A"/>
                </a:solidFill>
                <a:latin typeface="Cambria" charset="0"/>
                <a:cs typeface="Cambria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999" y="3816000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DESENVOLVIMENTO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99" y="4104000"/>
            <a:ext cx="2304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0A0A0A"/>
                </a:solidFill>
                <a:latin typeface="Cambria" charset="0"/>
                <a:cs typeface="Cambria" charset="0"/>
              </a:rPr>
              <a:t>Você está aqui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99" y="4536000"/>
            <a:ext cx="2304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0A0A0A"/>
                </a:solidFill>
                <a:latin typeface="Calibri" charset="0"/>
                <a:cs typeface="Calibri" charset="0"/>
              </a:rPr>
              <a:t>Masterplan KV em execução  ·  Hamam estruturada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0A0A0A"/>
                </a:solidFill>
                <a:latin typeface="Calibri" charset="0"/>
                <a:cs typeface="Calibri" charset="0"/>
              </a:rPr>
              <a:t>Máxima janela de entrada como sócio fundador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9998" y="2592000"/>
            <a:ext cx="2664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9998" y="2736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0" i="0">
                <a:solidFill>
                  <a:srgbClr val="FFFFFF"/>
                </a:solidFill>
                <a:latin typeface="Cambria" charset="0"/>
                <a:cs typeface="Cambria" charset="0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998" y="3816000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PRÉ-LANÇAMENTO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998" y="4104000"/>
            <a:ext cx="2304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FFFFFF"/>
                </a:solidFill>
                <a:latin typeface="Cambria" charset="0"/>
                <a:cs typeface="Cambria" charset="0"/>
              </a:rPr>
              <a:t>Próxima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998" y="4536000"/>
            <a:ext cx="2304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Ativo registrado  ·  F&amp;F e VIP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Ágio +30% a +40% vs. Fase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9997" y="2592000"/>
            <a:ext cx="2664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9997" y="2736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0" i="0">
                <a:solidFill>
                  <a:srgbClr val="FFFFFF"/>
                </a:solidFill>
                <a:latin typeface="Cambria" charset="0"/>
                <a:cs typeface="Cambria" charset="0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997" y="3816000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GO TO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997" y="4104000"/>
            <a:ext cx="2304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FFFFFF"/>
                </a:solidFill>
                <a:latin typeface="Cambria" charset="0"/>
                <a:cs typeface="Cambria" charset="0"/>
              </a:rPr>
              <a:t>Futuro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997" y="4536000"/>
            <a:ext cx="2304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Lançamento público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R$ 14.000 - 16.000 /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5976000"/>
            <a:ext cx="1108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B8942E"/>
                </a:solidFill>
                <a:latin typeface="Cambria" charset="0"/>
                <a:cs typeface="Cambria" charset="0"/>
              </a:rPr>
              <a:t>"Quem entra na Fase 1 torna-se sócio do projeto que a Fase 3 vai lançar."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 TERRA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Os números de uma reserva irrepetível.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18000" cy="122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122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999" y="2520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 charset="0"/>
                <a:cs typeface="Cambria" charset="0"/>
              </a:rPr>
              <a:t>129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3060000"/>
            <a:ext cx="329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Fase 1  ·  potencial +70 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2000" y="2340000"/>
            <a:ext cx="3618000" cy="122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2000" y="2340000"/>
            <a:ext cx="43200" cy="122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999" y="2520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 charset="0"/>
                <a:cs typeface="Cambria" charset="0"/>
              </a:rPr>
              <a:t>1.070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999" y="3060000"/>
            <a:ext cx="329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Faixa de areia exclusiva pé na areia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4000" y="2340000"/>
            <a:ext cx="3618000" cy="122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4000" y="2340000"/>
            <a:ext cx="43200" cy="122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5999" y="2520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 charset="0"/>
                <a:cs typeface="Cambria" charset="0"/>
              </a:rPr>
              <a:t>2.500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999" y="3060000"/>
            <a:ext cx="329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Profundidade até a Linha Verde (SE-100)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3708000"/>
            <a:ext cx="3618000" cy="122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0000" y="3708000"/>
            <a:ext cx="43200" cy="122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1999" y="3888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 charset="0"/>
                <a:cs typeface="Cambria" charset="0"/>
              </a:rPr>
              <a:t>15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999" y="4428000"/>
            <a:ext cx="329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Centro industrial → litoral (hoje 45 min)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2000" y="3708000"/>
            <a:ext cx="3618000" cy="122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02000" y="3708000"/>
            <a:ext cx="43200" cy="122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999" y="3888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 charset="0"/>
                <a:cs typeface="Cambria" charset="0"/>
              </a:rPr>
              <a:t>Mar + Rio + Lagoa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999" y="4428000"/>
            <a:ext cx="329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Único no litoral nordestino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4000" y="3708000"/>
            <a:ext cx="3618000" cy="122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64000" y="3708000"/>
            <a:ext cx="43200" cy="122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5999" y="3888000"/>
            <a:ext cx="3294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mbria" charset="0"/>
                <a:cs typeface="Cambria" charset="0"/>
              </a:rPr>
              <a:t>28 - 35%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5999" y="4428000"/>
            <a:ext cx="329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APP integrada como Parque Natural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5148000"/>
            <a:ext cx="11088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1">
                <a:solidFill>
                  <a:srgbClr val="B8942E"/>
                </a:solidFill>
                <a:latin typeface="Cambria" charset="0"/>
                <a:cs typeface="Cambria" charset="0"/>
              </a:rPr>
              <a:t>Praia do Saco (10km, top 100 mundial)  ·  Mangue Seco (12km, Tietê)</a:t>
            </a:r>
          </a:p>
          <a:p>
            <a:pPr algn="ctr">
              <a:lnSpc>
                <a:spcPct val="150000"/>
              </a:lnSpc>
            </a:pPr>
            <a:r>
              <a:rPr sz="1200" b="0" i="1">
                <a:solidFill>
                  <a:srgbClr val="B8942E"/>
                </a:solidFill>
                <a:latin typeface="Cambria" charset="0"/>
                <a:cs typeface="Cambria" charset="0"/>
              </a:rPr>
              <a:t>Lagoa dos Tambaquis dentro da área  ·  Produção local: mangaba, caju, coco, acerola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EROPORTO ARACAJ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4039" cy="3429000"/>
          </a:xfrm>
          <a:prstGeom prst="rect">
            <a:avLst/>
          </a:prstGeom>
        </p:spPr>
      </p:pic>
      <p:pic>
        <p:nvPicPr>
          <p:cNvPr id="4" name="Picture 3" descr="PHOTO-2023-12-04-09-13-53 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39" y="0"/>
            <a:ext cx="4064039" cy="3429000"/>
          </a:xfrm>
          <a:prstGeom prst="rect">
            <a:avLst/>
          </a:prstGeom>
        </p:spPr>
      </p:pic>
      <p:pic>
        <p:nvPicPr>
          <p:cNvPr id="5" name="Picture 4" descr="PHOTO-2023-12-04-09-13-53 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79" y="0"/>
            <a:ext cx="4064039" cy="3429000"/>
          </a:xfrm>
          <a:prstGeom prst="rect">
            <a:avLst/>
          </a:prstGeom>
        </p:spPr>
      </p:pic>
      <p:pic>
        <p:nvPicPr>
          <p:cNvPr id="6" name="Picture 5" descr="PHOTO-2023-12-04-09-13-5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4064039" cy="3429000"/>
          </a:xfrm>
          <a:prstGeom prst="rect">
            <a:avLst/>
          </a:prstGeom>
        </p:spPr>
      </p:pic>
      <p:pic>
        <p:nvPicPr>
          <p:cNvPr id="7" name="Picture 6" descr="PHOTO-2023-12-04-09-13-54 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39" y="3429000"/>
            <a:ext cx="4064039" cy="3429000"/>
          </a:xfrm>
          <a:prstGeom prst="rect">
            <a:avLst/>
          </a:prstGeom>
        </p:spPr>
      </p:pic>
      <p:pic>
        <p:nvPicPr>
          <p:cNvPr id="8" name="Picture 7" descr="PHOTO-2023-12-04-09-13-5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79" y="3429000"/>
            <a:ext cx="4064039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288000"/>
            <a:ext cx="7200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GALERIA  ·  ÁREA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40000"/>
            <a:ext cx="1008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Cambria" charset="0"/>
                <a:cs typeface="Cambria" charset="0"/>
              </a:rPr>
              <a:t>1.070m de litoral virgem.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aia-do-saco-um-paraiso-proximo-de-aracaju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4039" cy="3429000"/>
          </a:xfrm>
          <a:prstGeom prst="rect">
            <a:avLst/>
          </a:prstGeom>
        </p:spPr>
      </p:pic>
      <p:pic>
        <p:nvPicPr>
          <p:cNvPr id="4" name="Picture 3" descr="Mangue-Seco-e-Praia-do-Sac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39" y="0"/>
            <a:ext cx="4064039" cy="3429000"/>
          </a:xfrm>
          <a:prstGeom prst="rect">
            <a:avLst/>
          </a:prstGeom>
        </p:spPr>
      </p:pic>
      <p:pic>
        <p:nvPicPr>
          <p:cNvPr id="5" name="Picture 4" descr="lagoa-dos-tambaqui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79" y="0"/>
            <a:ext cx="4064039" cy="3429000"/>
          </a:xfrm>
          <a:prstGeom prst="rect">
            <a:avLst/>
          </a:prstGeom>
        </p:spPr>
      </p:pic>
      <p:pic>
        <p:nvPicPr>
          <p:cNvPr id="6" name="Picture 5" descr="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4064039" cy="3429000"/>
          </a:xfrm>
          <a:prstGeom prst="rect">
            <a:avLst/>
          </a:prstGeom>
        </p:spPr>
      </p:pic>
      <p:pic>
        <p:nvPicPr>
          <p:cNvPr id="7" name="Picture 6" descr="por-do-sol-na-praia-d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39" y="3429000"/>
            <a:ext cx="4064039" cy="3429000"/>
          </a:xfrm>
          <a:prstGeom prst="rect">
            <a:avLst/>
          </a:prstGeom>
        </p:spPr>
      </p:pic>
      <p:pic>
        <p:nvPicPr>
          <p:cNvPr id="8" name="Picture 7" descr="nascer-do-sol-na-prai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79" y="3429000"/>
            <a:ext cx="4064039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288000"/>
            <a:ext cx="7200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GALERIA  ·  NATUREZA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40000"/>
            <a:ext cx="1008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Cambria" charset="0"/>
                <a:cs typeface="Cambria" charset="0"/>
              </a:rPr>
              <a:t>Praia. Dunas. Lagoa. Mangue.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LOCALIZAÇÃO ESTRATÉGICA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 geografia do timing.</a:t>
            </a:r>
          </a:p>
        </p:txBody>
      </p:sp>
      <p:pic>
        <p:nvPicPr>
          <p:cNvPr id="6" name="Picture 5" descr="AEROPORTO ARACAJ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40000"/>
            <a:ext cx="5400000" cy="378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0000" y="2340000"/>
            <a:ext cx="5328000" cy="37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6000" y="2484000"/>
            <a:ext cx="46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RAIO DE INFLUÊNCIA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6000" y="284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50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286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Aeroporto de Aracaju  ·  voos diretos SP, BSB, RJ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6000" y="329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45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0" y="331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Cidade de Aracaju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374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Linha Verde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376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Acesso direto SE-100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419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10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421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Praia do Saco  ·  top 100 mundial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464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12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466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Mangue Seco  ·  novela Tietê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000" y="509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10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511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Divisa com a Bahia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000" y="5543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Estância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5561999"/>
            <a:ext cx="32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Polo industrial  ·  primeira residência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263999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B8942E"/>
                </a:solidFill>
                <a:latin typeface="Cambria" charset="0"/>
                <a:cs typeface="Cambria" charset="0"/>
              </a:rPr>
              <a:t>Infraestrutura adjacente: Porto de Sergipe  ·  Iate Clube  ·  Heliponto  ·  Marina Porto N’Angola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>
            <a:extLst>
              <a:ext uri="{FF2B5EF4-FFF2-40B4-BE49-F238E27FC236}">
                <a16:creationId xmlns:a16="http://schemas.microsoft.com/office/drawing/2014/main" id="{27A3EADA-75E0-A01E-7D90-6926A1601EDD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 MASTERPLAN  ·  KONIGSBERGER VANNUCCHI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Zoneamento oficial ZEEC / Estância  ·  Lei 8.980/2022.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40000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241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ZONA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41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241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CLASSIFICAÇÃO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00" y="241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% ÁREA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646000"/>
            <a:ext cx="11088000" cy="378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2754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C2B3"/>
                </a:solidFill>
                <a:latin typeface="Cambria" charset="0"/>
                <a:cs typeface="Cambria" charset="0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2761200"/>
            <a:ext cx="55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mbria" charset="0"/>
                <a:cs typeface="Cambria" charset="0"/>
              </a:rPr>
              <a:t>Parque Natural de Dunas &amp; Restinga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0" y="2771999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ZPA / ZMAR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2754000"/>
            <a:ext cx="1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28 - 35%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132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C2B3"/>
                </a:solidFill>
                <a:latin typeface="Cambria" charset="0"/>
                <a:cs typeface="Cambria" charset="0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139200"/>
            <a:ext cx="55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mbria" charset="0"/>
                <a:cs typeface="Cambria" charset="0"/>
              </a:rPr>
              <a:t>Beach Club + Hotel / Condo-Hotel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0" y="3149999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ZUR (fora de APP)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3132000"/>
            <a:ext cx="1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6 - 9%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3402000"/>
            <a:ext cx="11088000" cy="378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000" y="3510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C2B3"/>
                </a:solidFill>
                <a:latin typeface="Cambria" charset="0"/>
                <a:cs typeface="Cambria" charset="0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3517200"/>
            <a:ext cx="55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mbria" charset="0"/>
                <a:cs typeface="Cambria" charset="0"/>
              </a:rPr>
              <a:t>Condo Village  ·  Apartamentos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3527999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ZUD / ZUC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00" y="3510000"/>
            <a:ext cx="1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10 - 13%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3888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C2B3"/>
                </a:solidFill>
                <a:latin typeface="Cambria" charset="0"/>
                <a:cs typeface="Cambria" charset="0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0" y="3895200"/>
            <a:ext cx="55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mbria" charset="0"/>
                <a:cs typeface="Cambria" charset="0"/>
              </a:rPr>
              <a:t>Bairros de Lotes Residenciais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0" y="3905999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ZUD / ZUC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00" y="3888000"/>
            <a:ext cx="1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32 - 40%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58000"/>
            <a:ext cx="11088000" cy="378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000" y="4266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C2B3"/>
                </a:solidFill>
                <a:latin typeface="Cambria" charset="0"/>
                <a:cs typeface="Cambria" charset="0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000" y="4273200"/>
            <a:ext cx="55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mbria" charset="0"/>
                <a:cs typeface="Cambria" charset="0"/>
              </a:rPr>
              <a:t>Boulevard Comercial &amp; Esportivo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0" y="4283999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ZUD / ZUC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00" y="4266000"/>
            <a:ext cx="1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3 - 5%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4644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C2B3"/>
                </a:solidFill>
                <a:latin typeface="Cambria" charset="0"/>
                <a:cs typeface="Cambria" charset="0"/>
              </a:rP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4651200"/>
            <a:ext cx="55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mbria" charset="0"/>
                <a:cs typeface="Cambria" charset="0"/>
              </a:rPr>
              <a:t>Utilidades / Infraestrutura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0" y="4661999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ZUE / ZUD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00" y="4644000"/>
            <a:ext cx="1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2 - 3%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6336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B8942E"/>
                </a:solidFill>
                <a:latin typeface="Cambria" charset="0"/>
                <a:cs typeface="Cambria" charset="0"/>
              </a:rPr>
              <a:t>Orla intocada — sem arruamento nem volumes permanentes na faixa de praia. Requisito legal e argumento central de marketing.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atsApp Image 2025-11-14 at 13.14.07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9311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301751" y="-109873"/>
            <a:ext cx="12765024" cy="7041025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AS DUAS ETAPAS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Seaside e Hinterland  ·  da praia ao interior do terreno.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544000" cy="3131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3131999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999" y="2520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ETAPA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2808000"/>
            <a:ext cx="504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 charset="0"/>
                <a:cs typeface="Cambria" charset="0"/>
              </a:rPr>
              <a:t>JUBIABÁ SEASIDE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3491999"/>
            <a:ext cx="5040000" cy="18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Primeira frente de mar.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Lotes premium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Beach Villas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Beach Club âncora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Planejamento de baixíssima densidade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2000" y="2340000"/>
            <a:ext cx="5544000" cy="3131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2000" y="2340000"/>
            <a:ext cx="43200" cy="3131999"/>
          </a:xfrm>
          <a:prstGeom prst="rect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3999" y="2520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F0EDE6"/>
                </a:solidFill>
                <a:latin typeface="Calibri" charset="0"/>
                <a:cs typeface="Calibri" charset="0"/>
              </a:rPr>
              <a:t>ETAPA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999" y="2808000"/>
            <a:ext cx="504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 charset="0"/>
                <a:cs typeface="Cambria" charset="0"/>
              </a:rPr>
              <a:t>JUBIABÁ HINTERLAND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999" y="3491999"/>
            <a:ext cx="5040000" cy="18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Interior do terreno.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Hotel / resort frente mar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Hotel boutique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Hotel à beira da Linha Verde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•  Wellness  ·  Condo-hotel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5652000"/>
            <a:ext cx="11088000" cy="720000"/>
          </a:xfrm>
          <a:prstGeom prst="roundRect">
            <a:avLst>
              <a:gd name="adj" fmla="val 6000"/>
            </a:avLst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000" y="5652000"/>
            <a:ext cx="43200" cy="72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2000" y="574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B8942E"/>
                </a:solidFill>
                <a:latin typeface="Calibri" charset="0"/>
                <a:cs typeface="Calibri" charset="0"/>
              </a:rPr>
              <a:t>VILLAS SUSPENSAS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958000"/>
            <a:ext cx="1026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0EDE6"/>
                </a:solidFill>
                <a:latin typeface="Cambria" charset="0"/>
                <a:cs typeface="Cambria" charset="0"/>
              </a:rPr>
              <a:t>Arquitetura elevada que toca o solo de forma pontual — preserva a vegetação sob a estrutura, garante vistas panorâmicas, com zero movimentação de terra.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OS PILARES DO COMPLEXO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Quatro frentes de geração de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544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180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000" y="2484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RESIDENCIAL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772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Beach Villas frente mar  +  Condo Village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3347999"/>
            <a:ext cx="50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100 - 140 m²  ·  parte com lock-off / pool. Sistema GSWP — qualidade superior, até 3x mais rápido que método convencional.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2000" y="2340000"/>
            <a:ext cx="5544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2000" y="2340000"/>
            <a:ext cx="43200" cy="180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8000" y="2484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HOTELARIA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2772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Resort frente mar (60-80 chaves)  +  Boutique  +  Linha Verde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000" y="3347999"/>
            <a:ext cx="50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Padrão Hamam Global. Operação IAAS. FF&amp;E e OS&amp;E end-to-end. Pool de marcas: Marriott, Hilton, Accor, IHG, Oetker.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4248000"/>
            <a:ext cx="5544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000" y="4248000"/>
            <a:ext cx="43200" cy="180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6000" y="43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LIFESTYLE &amp; WELLNESS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000" y="4680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Beach Club  ·  Spa  ·  Centro Esportivo  ·  Tênis  ·  Beach Tennis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00" y="5255999"/>
            <a:ext cx="50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Alta gastronomia farm-to-table  ·  Jardins sensoriais  ·  Trilhas ecológicas  ·  Wellness Center.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2000" y="4248000"/>
            <a:ext cx="5544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2000" y="4248000"/>
            <a:ext cx="43200" cy="180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8000" y="43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SUSTENTABILIDADE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8000" y="4680000"/>
            <a:ext cx="50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APP como Parque Natural  ·  Dark-sky (tartarugas marinhas)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8000" y="5255999"/>
            <a:ext cx="50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Energia solar  ·  SUDS  ·  gestão de efluentes  ·  zero poluição visual  ·  impacto local positivo.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agoa-dos-tambaquis-1.png"/>
          <p:cNvPicPr>
            <a:picLocks noChangeAspect="1"/>
          </p:cNvPicPr>
          <p:nvPr/>
        </p:nvPicPr>
        <p:blipFill>
          <a:blip r:embed="rId2"/>
          <a:srcRect t="20912" b="1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0" name="Rectangle 6"/>
          <p:cNvSpPr/>
          <p:nvPr/>
        </p:nvSpPr>
        <p:spPr>
          <a:xfrm>
            <a:off x="-246888" y="0"/>
            <a:ext cx="12563856" cy="7415784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SMART CITY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Seis pilares integrados desde o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1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1999" y="3420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1999" y="3492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ENERGIA LIMPA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3780000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Solar + eólica  ·  matriz renovável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2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53999" y="3420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53999" y="3492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INFRA ENTERRADA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999" y="3780000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Cabeamento 100% subterrâneo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zero poluição visual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4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5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15999" y="3420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15999" y="3492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CONECTIVIDADE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999" y="3780000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Fibra óptica  ·  automação residencial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trabalho remoto premium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1999" y="460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1999" y="5508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1999" y="5580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MOBILIDADE INTELIGENTE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999" y="5868000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EV chargers  ·  shuttle elétrico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ciclofaixas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2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999" y="460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999" y="5508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53999" y="5580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EFICIÊNCIA HÍDRICA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999" y="5868000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Captação pluvial  ·  reúso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irrigação inteligente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5999" y="460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00C2B3"/>
                </a:solidFill>
                <a:latin typeface="Cambria" charset="0"/>
                <a:cs typeface="Cambria" charset="0"/>
              </a:rPr>
              <a:t>06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15999" y="5508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15999" y="5580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ARQUITETURA ORGÂNICA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999" y="5868000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Estudos de insolação e ventos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conforto térmico natural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COMPARATIVO DE ESCALA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Onde Jubiabá se posiciona no mercado nacional.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40000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2412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EMPREENDIMENTO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2412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TIPOLOGIA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0" y="2412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PREÇO REFERÊNCIA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646000"/>
            <a:ext cx="11088000" cy="360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000" y="275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Jurerê Internacional (SC)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0" y="276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Superluxo frente 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000" y="275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R$ 28.000 - 35.000 /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11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Praia do Forte (BA)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0" y="312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Alto luxo frente 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311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R$ 30.000 - 40.000 /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366000"/>
            <a:ext cx="11088000" cy="360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000" y="347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Destino Baixio (BA)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0" y="348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Branded residences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347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R$ 600K - R$ 2M+ (lote / villa)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383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Alexandria Trancoso (BA)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0" y="384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Alto padrão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000" y="383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R$ 614K+ (lote)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4086000"/>
            <a:ext cx="11088000" cy="360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000" y="419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Noah Home &amp; Spa (Caueira/SE)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420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Concorrente regional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419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R$ 300 - 500K (lotes)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455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mbria" charset="0"/>
                <a:cs typeface="Cambria" charset="0"/>
              </a:rPr>
              <a:t>Belleville Litoral Sul (SE)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0" y="456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Concorrente regional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455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R$ 250K+ (lotes)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4806000"/>
            <a:ext cx="11088000" cy="36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0000" y="4914000"/>
            <a:ext cx="46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mbria" charset="0"/>
                <a:cs typeface="Cambria" charset="0"/>
              </a:rPr>
              <a:t>JUBIABÁ  ·  FASE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0" y="49212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0A0A"/>
                </a:solidFill>
                <a:latin typeface="Calibri" charset="0"/>
                <a:cs typeface="Calibri" charset="0"/>
              </a:rPr>
              <a:t>Superluxo pé na areia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0000" y="4914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Cambria" charset="0"/>
                <a:cs typeface="Cambria" charset="0"/>
              </a:rPr>
              <a:t>R$ 14.000 - 16.000 / m²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>
            <a:extLst>
              <a:ext uri="{FF2B5EF4-FFF2-40B4-BE49-F238E27FC236}">
                <a16:creationId xmlns:a16="http://schemas.microsoft.com/office/drawing/2014/main" id="{4FA84169-754A-432C-B13A-722C9F42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8" name="Rectangle 6">
            <a:extLst>
              <a:ext uri="{FF2B5EF4-FFF2-40B4-BE49-F238E27FC236}">
                <a16:creationId xmlns:a16="http://schemas.microsoft.com/office/drawing/2014/main" id="{1404C403-4733-9791-91FC-3E16AE20CCDA}"/>
              </a:ext>
            </a:extLst>
          </p:cNvPr>
          <p:cNvSpPr/>
          <p:nvPr/>
        </p:nvSpPr>
        <p:spPr>
          <a:xfrm>
            <a:off x="-265176" y="0"/>
            <a:ext cx="12457295" cy="685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KONIGSBERGER VANNUCCHI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 assinatura do projeto.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40000"/>
            <a:ext cx="5400000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0EDE6"/>
                </a:solidFill>
                <a:latin typeface="Cambria" charset="0"/>
                <a:cs typeface="Cambria" charset="0"/>
              </a:rPr>
              <a:t>Por que a KV para Jubiabá?</a:t>
            </a:r>
          </a:p>
          <a:p>
            <a:pPr algn="l">
              <a:lnSpc>
                <a:spcPct val="150000"/>
              </a:lnSpc>
            </a:pPr>
            <a:endParaRPr sz="1400" b="0" i="0">
              <a:solidFill>
                <a:srgbClr val="F0EDE6"/>
              </a:solidFill>
              <a:latin typeface="Cambria" charset="0"/>
              <a:cs typeface="Cambria" charset="0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0EDE6"/>
                </a:solidFill>
                <a:latin typeface="Cambria" charset="0"/>
                <a:cs typeface="Cambria" charset="0"/>
              </a:rPr>
              <a:t>São os únicos no Brasil com portfólio combinando masterplans de grande escala, residencial de altíssimo padrão e expertise comprovada no Norte e Nordeste.</a:t>
            </a:r>
          </a:p>
          <a:p>
            <a:pPr algn="l">
              <a:lnSpc>
                <a:spcPct val="150000"/>
              </a:lnSpc>
            </a:pPr>
            <a:endParaRPr sz="1400" b="0" i="0">
              <a:solidFill>
                <a:srgbClr val="F0EDE6"/>
              </a:solidFill>
              <a:latin typeface="Cambria" charset="0"/>
              <a:cs typeface="Cambria" charset="0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0EDE6"/>
                </a:solidFill>
                <a:latin typeface="Cambria" charset="0"/>
                <a:cs typeface="Cambria" charset="0"/>
              </a:rPr>
              <a:t>A chancela KV elimina o risco de design e adiciona valor estético inquestionável — diferencial direto na precificação.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2340000"/>
            <a:ext cx="532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6000" y="2484000"/>
            <a:ext cx="46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CREDENCIAIS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6000" y="2843999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1972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0" y="2908799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Fundação  ·  53 anos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3347998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893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3412798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Projetos  ·  516 construídos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3851997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R$ 18Bi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3916797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VGV desde 2022  ·  +7MM m² na década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4355996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107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4420796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Arquitetos em 4 países  ·  1,2MM h em BIM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000" y="4859995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30º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4924795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Prêmio Master Imobiliário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000" y="5363994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MIPIM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5428794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Cannes 2026  ·  14ª Bienal Arquitetura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263999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942E"/>
                </a:solidFill>
                <a:latin typeface="Cambria" charset="0"/>
                <a:cs typeface="Cambria" charset="0"/>
              </a:rPr>
              <a:t>Projetos de referência: Platina 220 SP  ·  Brascan Century Plaza  ·  Sesc Paulista  ·  HY Pinheiros  ·  Insigna RJ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>
            <a:extLst>
              <a:ext uri="{FF2B5EF4-FFF2-40B4-BE49-F238E27FC236}">
                <a16:creationId xmlns:a16="http://schemas.microsoft.com/office/drawing/2014/main" id="{61FB3411-7FBF-7CBB-E8F8-DFA7A2454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8" name="Rectangle 6">
            <a:extLst>
              <a:ext uri="{FF2B5EF4-FFF2-40B4-BE49-F238E27FC236}">
                <a16:creationId xmlns:a16="http://schemas.microsoft.com/office/drawing/2014/main" id="{20135889-6FB8-1367-200F-BFC45067CAB5}"/>
              </a:ext>
            </a:extLst>
          </p:cNvPr>
          <p:cNvSpPr/>
          <p:nvPr/>
        </p:nvSpPr>
        <p:spPr>
          <a:xfrm>
            <a:off x="-265176" y="0"/>
            <a:ext cx="12457295" cy="685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HAMAM GLOBAL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 garantia da hospitalidade.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40000"/>
            <a:ext cx="5400000" cy="3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0EDE6"/>
                </a:solidFill>
                <a:latin typeface="Cambria" charset="0"/>
                <a:cs typeface="Cambria" charset="0"/>
              </a:rPr>
              <a:t>Por que a Hamam Global para Jubiabá?</a:t>
            </a:r>
          </a:p>
          <a:p>
            <a:pPr algn="l">
              <a:lnSpc>
                <a:spcPct val="150000"/>
              </a:lnSpc>
            </a:pPr>
            <a:endParaRPr sz="1400" b="0" i="0">
              <a:solidFill>
                <a:srgbClr val="F0EDE6"/>
              </a:solidFill>
              <a:latin typeface="Cambria" charset="0"/>
              <a:cs typeface="Cambria" charset="0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0EDE6"/>
                </a:solidFill>
                <a:latin typeface="Cambria" charset="0"/>
                <a:cs typeface="Cambria" charset="0"/>
              </a:rPr>
              <a:t>São os únicos no Brasil capazes de operar do conceito ao FF&amp;E/OS&amp;E com padrão internacional. O modelo IAAS elimina o risco de execução hoteleira.</a:t>
            </a:r>
          </a:p>
          <a:p>
            <a:pPr algn="l">
              <a:lnSpc>
                <a:spcPct val="150000"/>
              </a:lnSpc>
            </a:pPr>
            <a:endParaRPr sz="1400" b="0" i="0">
              <a:solidFill>
                <a:srgbClr val="F0EDE6"/>
              </a:solidFill>
              <a:latin typeface="Cambria" charset="0"/>
              <a:cs typeface="Cambria" charset="0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0EDE6"/>
                </a:solidFill>
                <a:latin typeface="Cambria" charset="0"/>
                <a:cs typeface="Cambria" charset="0"/>
              </a:rPr>
              <a:t>Mais de 1.500 fabricantes parceiros = acabamento internacional a custo competitivo. Marcas top tier já homologadas.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2340000"/>
            <a:ext cx="532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6000" y="2484000"/>
            <a:ext cx="46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CREDENCIAIS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6000" y="2843999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0" y="2908799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Anos de operação  ·  hubs SP, Miami, Dubai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3347998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+250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3412798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Hotéis entregues  ·  +70 marcas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3851997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+43.000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3916797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Chaves  ·  US$ 215MM em FF&amp;E/OS&amp;E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4355996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+1.500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4420796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Fabricantes parceiros homologados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000" y="4859995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6x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4924795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Melhor empresa FF&amp;E/OS&amp;E América Latina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000" y="5363994"/>
            <a:ext cx="16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C2B3"/>
                </a:solidFill>
                <a:latin typeface="Cambria" charset="0"/>
                <a:cs typeface="Cambria" charset="0"/>
              </a:rPr>
              <a:t>1875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5428794"/>
            <a:ext cx="324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Reconhecida pela Hotel Management Magazine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263999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942E"/>
                </a:solidFill>
                <a:latin typeface="Cambria" charset="0"/>
                <a:cs typeface="Cambria" charset="0"/>
              </a:rPr>
              <a:t>Marcas homologadas: Marriott  ·  Hilton  ·  Accor  ·  IHG  ·  Oetker Collection  ·  W Hotels  ·  Fasano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HOSPITALIDADE INTEGRADA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Três camadas que transformam residencial em experiência.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520000"/>
            <a:ext cx="3671999" cy="370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6000" y="2700000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6000" y="3816000"/>
            <a:ext cx="1044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00" y="3924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CAMADA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4212000"/>
            <a:ext cx="32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SERVIÇOS ESSENCIAIS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5112000"/>
            <a:ext cx="32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Limpeza  ·  manutenção  ·  jardinagem de precisão.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Operação end-to-end sob padrão internacional.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0" y="2520000"/>
            <a:ext cx="3671999" cy="370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6000" y="2700000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00C2B3"/>
                </a:solidFill>
                <a:latin typeface="Cambria" charset="0"/>
                <a:cs typeface="Cambria" charset="0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36000" y="3816000"/>
            <a:ext cx="1044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36000" y="3924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CAMADA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000" y="4212000"/>
            <a:ext cx="32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GASTRONOMIA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5112000"/>
            <a:ext cx="32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Restaurante signature  ·  room service 24/7  ·  menu assinado por chef de renome.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0000" y="2520000"/>
            <a:ext cx="3671999" cy="370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6000" y="2700000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00C2B3"/>
                </a:solidFill>
                <a:latin typeface="Cambria" charset="0"/>
                <a:cs typeface="Cambria" charset="0"/>
              </a:rP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16000" y="3816000"/>
            <a:ext cx="1044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16000" y="3924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CAMADA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000" y="4212000"/>
            <a:ext cx="32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O TOQUE JUBIABÁ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000" y="5112000"/>
            <a:ext cx="32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Mimos diários  ·  frutas e água de coco na praia  ·  curadoria de experiências locais autênticas.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ji-1599-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26" name="Rectangle 6"/>
          <p:cNvSpPr/>
          <p:nvPr/>
        </p:nvSpPr>
        <p:spPr>
          <a:xfrm>
            <a:off x="-265176" y="0"/>
            <a:ext cx="12457295" cy="685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 QUE VOCÊ ESTÁ COMPRANDO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Clareza conceitual fundamental.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6000" y="2484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2591999"/>
            <a:ext cx="41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NÃO É A COMPRA DE UM IMÓVEL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3132000"/>
            <a:ext cx="4140000" cy="100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É uma participação na fase de desenvolvimento que se converte em m² com deságio.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2340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8000" y="2484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000" y="2591999"/>
            <a:ext cx="41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VOCÊ ENTRA COMO SÓCIO FUNDADOR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000" y="3132000"/>
            <a:ext cx="4140000" cy="100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Fase de máximo potencial — antes da precificação pública. Captura integral da margem do incorporador.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4284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000" y="442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4535999"/>
            <a:ext cx="41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A CONVERSÃO SE DÁ COM O 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5076000"/>
            <a:ext cx="4140000" cy="100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Registro de Incorporação formaliza a conversão da cota em metro quadrado escriturado.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4284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8000" y="442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000" y="4535999"/>
            <a:ext cx="41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TRÊS OPÇÕES DE SAÍDA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000" y="5076000"/>
            <a:ext cx="4140000" cy="100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Venda da cota  ·  recebimento do imóvel  ·  permanência no pool de locação hoteleira gerido pela Hamam Global.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CICLO DE GERAÇÃO DE VALOR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Cinco etapas. Uma S.A. blindada.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700000"/>
            <a:ext cx="2178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0000" y="288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93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74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PRÉ-LANÇAMENTO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4320000"/>
            <a:ext cx="1890000" cy="13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Captação seed capital  ·  masterplan KV  ·  aprovações ZEEC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3096000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0000" y="2700000"/>
            <a:ext cx="2178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70000" y="288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70000" y="293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4000" y="374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DESENVOLVIMENTO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4000" y="4320000"/>
            <a:ext cx="1890000" cy="13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Execução de obras de infra  ·  sistema construtivo GSWP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0000" y="3096000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2700000"/>
            <a:ext cx="2178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20000" y="288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20000" y="293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000" y="374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PRÉ-VENDA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000" y="4320000"/>
            <a:ext cx="1890000" cy="13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Abertura de vendas com precificação premium  ·  fluxo de caixa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3096000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000" y="2700000"/>
            <a:ext cx="2178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70000" y="288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0000" y="293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00" y="374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ENTREGA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00" y="4320000"/>
            <a:ext cx="1890000" cy="13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Conclusão das obras  ·  conversão de cotas em m² (3x - 6x)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0000" y="3096000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40000" y="2700000"/>
            <a:ext cx="2178000" cy="30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20000" y="288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20000" y="293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4000" y="374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PÓS-ENTREGA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4000" y="4320000"/>
            <a:ext cx="1890000" cy="13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0EDE6"/>
                </a:solidFill>
                <a:latin typeface="Calibri" charset="0"/>
                <a:cs typeface="Calibri" charset="0"/>
              </a:rPr>
              <a:t>Operação Hamam  ·  receita recorrente passiva para investidores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ESTRUTURA SOCIETÁRIA &amp; GARANTIA REAL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A blindagem mais sólida do mercado.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544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66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000" y="2448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S.A. com Patrimônio de Afetação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718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100% dedicado ao projeto  ·  blindado contra terceiros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2340000"/>
            <a:ext cx="5544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2000" y="2340000"/>
            <a:ext cx="43200" cy="66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8000" y="2448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Governança Auditada Externamente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2718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Relatórios trimestrais  ·  due diligence permanente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114000"/>
            <a:ext cx="5544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0000" y="3114000"/>
            <a:ext cx="43200" cy="66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000" y="3222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Garantia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3492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Investimento garantido pela matrícula do terreno até o 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3114000"/>
            <a:ext cx="5544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2000" y="3114000"/>
            <a:ext cx="43200" cy="66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8000" y="3222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Seguro Garantia de Obras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3492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Garante que a obra começa e termina  ·  seguradora independente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888000"/>
            <a:ext cx="5544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0000" y="3888000"/>
            <a:ext cx="43200" cy="66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6000" y="3996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Validação Institucional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00" y="4266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Quando há fundo, há garantia de execução  ·  selo de seriedade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2000" y="3888000"/>
            <a:ext cx="5544000" cy="66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2000" y="3888000"/>
            <a:ext cx="43200" cy="666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8000" y="3996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Registros Formais em Cartório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0" y="4266000"/>
            <a:ext cx="525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Cada etapa registrada  ·  zero ambiguidade jurídica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F3A6958E-9570-8080-5401-B3F3B1360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153002"/>
            <a:ext cx="12268200" cy="8178800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:a16="http://schemas.microsoft.com/office/drawing/2014/main" id="{B3B906E6-4B5E-7026-ADE8-E849C1B2F769}"/>
              </a:ext>
            </a:extLst>
          </p:cNvPr>
          <p:cNvSpPr/>
          <p:nvPr/>
        </p:nvSpPr>
        <p:spPr>
          <a:xfrm>
            <a:off x="-265176" y="0"/>
            <a:ext cx="12457295" cy="6858000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 SISTEMA CONSTRUTIVO GSWP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511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Parede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concretada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in loco</a:t>
            </a:r>
            <a:r>
              <a:rPr lang="pt-BR"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,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diferencial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direto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na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TIR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5040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396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520000"/>
            <a:ext cx="46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VELOCIDADE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808000"/>
            <a:ext cx="46800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ambria" charset="0"/>
                <a:cs typeface="Cambria" charset="0"/>
              </a:rPr>
              <a:t>ATÉ 3X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ambria" charset="0"/>
                <a:cs typeface="Cambria" charset="0"/>
              </a:rPr>
              <a:t>MAIS RÁPIDO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4860000"/>
            <a:ext cx="468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0EDE6"/>
                </a:solidFill>
                <a:latin typeface="Cambria" charset="0"/>
                <a:cs typeface="Cambria" charset="0"/>
              </a:rPr>
              <a:t>Que o método construtivo convencional. Estrutura já nasce pronta para receber acabamento premium.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0" y="2340000"/>
            <a:ext cx="586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76000" y="2484000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VANTAGENS DIRETAS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6000" y="2843999"/>
            <a:ext cx="21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Qualidade Superior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6000" y="3149999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Curadoria de alto padrão 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6000" y="3509999"/>
            <a:ext cx="21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Estrutura Otimizada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6000" y="3815999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Pronta para acabamento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6000" y="4175999"/>
            <a:ext cx="21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Custos Controlados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000" y="4481999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Previsibilidade financeira absoluta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6000" y="4841999"/>
            <a:ext cx="21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Sustentabilidade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6000" y="5147999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Redução de entulho e desperdício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6000" y="5507999"/>
            <a:ext cx="21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Diferencial na 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6000" y="5813999"/>
            <a:ext cx="54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Impacto direto no retorno do investidor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CICLO COMPLETO DE INVESTIMENTO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1199475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Garantia real ativa em todas as etapas.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478975"/>
            <a:ext cx="2178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4000" y="2622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M0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910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APORTE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378975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Capital aportado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na S.A.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2000" y="3090975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0000" y="2478975"/>
            <a:ext cx="2178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4000" y="2622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4000" y="2910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DESENVOLVIMENTO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4000" y="3378975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Obras de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infraestrutura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2000" y="3090975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0000" y="2478975"/>
            <a:ext cx="2178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000" y="2622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000" y="2910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000" y="3378975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Registro de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Incorporação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2000" y="3090975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000" y="2478975"/>
            <a:ext cx="2178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4000" y="2622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00" y="2910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CONVERSÃO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00" y="3378975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Cota convertida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em 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2000" y="3090975"/>
            <a:ext cx="1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0000" y="2478975"/>
            <a:ext cx="2178000" cy="18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84000" y="2622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4000" y="2910975"/>
            <a:ext cx="189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SAÍDA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4000" y="3378975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Venda  ·  uso  ·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condo-hotel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" y="5010450"/>
            <a:ext cx="11088000" cy="827999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2000" y="5136450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0A0A0A"/>
                </a:solidFill>
                <a:latin typeface="Calibri" charset="0"/>
                <a:cs typeface="Calibri" charset="0"/>
              </a:rPr>
              <a:t>GARANTIA REAL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406450"/>
            <a:ext cx="1044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0A0A0A"/>
                </a:solidFill>
                <a:latin typeface="Cambria" charset="0"/>
                <a:cs typeface="Cambria" charset="0"/>
              </a:rPr>
              <a:t>Imobiliária ativa em todas as fases — até a conversão em ativo registrado.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ESTRATÉGIA DE COMERCIALIZAÇÃO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1294725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Quatro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fases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com curva de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precificação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 </a:t>
            </a:r>
            <a:r>
              <a:rPr sz="3400" b="0" i="0" dirty="0" err="1">
                <a:solidFill>
                  <a:srgbClr val="FFFFFF"/>
                </a:solidFill>
                <a:latin typeface="Cambria" charset="0"/>
                <a:cs typeface="Cambria" charset="0"/>
              </a:rPr>
              <a:t>crescente</a:t>
            </a:r>
            <a:r>
              <a:rPr sz="3400" b="0" i="0" dirty="0">
                <a:solidFill>
                  <a:srgbClr val="FFFFFF"/>
                </a:solidFill>
                <a:latin typeface="Cambria" charset="0"/>
                <a:cs typeface="Cambria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520000"/>
            <a:ext cx="2772000" cy="342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520000"/>
            <a:ext cx="2772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771999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FASE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096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DESENVOLVIMENTO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0000" y="3780000"/>
            <a:ext cx="2412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2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PÚBLICO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1040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Investidores Semente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788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PRECIFICAÇÃO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040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R$ 4.000 - 5.497 /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580000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F0EDE6"/>
                </a:solidFill>
                <a:latin typeface="Calibri" charset="0"/>
                <a:cs typeface="Calibri" charset="0"/>
              </a:rPr>
              <a:t>Custo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4000" y="2520000"/>
            <a:ext cx="2772000" cy="342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4000" y="2520000"/>
            <a:ext cx="2772000" cy="180000"/>
          </a:xfrm>
          <a:prstGeom prst="rect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4000" y="2771999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F0EDE6"/>
                </a:solidFill>
                <a:latin typeface="Calibri" charset="0"/>
                <a:cs typeface="Calibri" charset="0"/>
              </a:rPr>
              <a:t>FASE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4000" y="3096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PRÉ-LANÇAMENTO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4000" y="3780000"/>
            <a:ext cx="2412000" cy="0"/>
          </a:xfrm>
          <a:prstGeom prst="line">
            <a:avLst/>
          </a:prstGeom>
          <a:ln w="10160">
            <a:solidFill>
              <a:srgbClr val="F0E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4000" y="3852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F0EDE6"/>
                </a:solidFill>
                <a:latin typeface="Calibri" charset="0"/>
                <a:cs typeface="Calibri" charset="0"/>
              </a:rPr>
              <a:t>PÚBLICO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4000" y="41040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F&amp;F + Clientes VIP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4000" y="4788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F0EDE6"/>
                </a:solidFill>
                <a:latin typeface="Calibri" charset="0"/>
                <a:cs typeface="Calibri" charset="0"/>
              </a:rPr>
              <a:t>PRECIFICAÇÃO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4000" y="5040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Ágio +30 a +40%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4000" y="5580000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F0EDE6"/>
                </a:solidFill>
                <a:latin typeface="Calibri" charset="0"/>
                <a:cs typeface="Calibri" charset="0"/>
              </a:rPr>
              <a:t>vs. Fase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8000" y="2520000"/>
            <a:ext cx="2772000" cy="342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28000" y="2520000"/>
            <a:ext cx="2772000" cy="180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8000" y="2771999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FASE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0" y="3096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LANÇAMENTO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8000" y="3780000"/>
            <a:ext cx="2412000" cy="0"/>
          </a:xfrm>
          <a:prstGeom prst="line">
            <a:avLst/>
          </a:prstGeom>
          <a:ln w="1016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8000" y="3852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PÚBLICO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8000" y="41040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Nacional / Internacional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8000" y="4788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PRECIFICAÇÃO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8000" y="5040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R$ 14.000 - 16.000 / m²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8000" y="5580000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F0EDE6"/>
                </a:solidFill>
                <a:latin typeface="Calibri" charset="0"/>
                <a:cs typeface="Calibri" charset="0"/>
              </a:rPr>
              <a:t>Mercado público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2000" y="2520000"/>
            <a:ext cx="2772000" cy="342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2000" y="2520000"/>
            <a:ext cx="2772000" cy="18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52000" y="2771999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B8942E"/>
                </a:solidFill>
                <a:latin typeface="Calibri" charset="0"/>
                <a:cs typeface="Calibri" charset="0"/>
              </a:rPr>
              <a:t>FASE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2000" y="3096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OPERAÇÃO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52000" y="3780000"/>
            <a:ext cx="2412000" cy="0"/>
          </a:xfrm>
          <a:prstGeom prst="line">
            <a:avLst/>
          </a:prstGeom>
          <a:ln w="10160">
            <a:solidFill>
              <a:srgbClr val="B89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52000" y="3852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PÚBLICO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2000" y="41040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Turistas High-End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2000" y="4788000"/>
            <a:ext cx="24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PRECIFICAÇÃO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2000" y="5040000"/>
            <a:ext cx="241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Diárias premium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2000" y="5580000"/>
            <a:ext cx="2412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F0EDE6"/>
                </a:solidFill>
                <a:latin typeface="Calibri" charset="0"/>
                <a:cs typeface="Calibri" charset="0"/>
              </a:rPr>
              <a:t>Condo-Hotel Hamam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photo-114068024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4" name="Rectangle 6"/>
          <p:cNvSpPr/>
          <p:nvPr/>
        </p:nvSpPr>
        <p:spPr>
          <a:xfrm>
            <a:off x="-210312" y="-100584"/>
            <a:ext cx="12402431" cy="6958584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CRONOGRAMA EXECUTIVO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Marcos de execução mapeados.</a:t>
            </a:r>
          </a:p>
        </p:txBody>
      </p:sp>
      <p:sp>
        <p:nvSpPr>
          <p:cNvPr id="8" name="Oval 7"/>
          <p:cNvSpPr/>
          <p:nvPr/>
        </p:nvSpPr>
        <p:spPr>
          <a:xfrm>
            <a:off x="792000" y="2484000"/>
            <a:ext cx="216000" cy="216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00000" y="2700000"/>
            <a:ext cx="0" cy="377999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60000" y="2376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0000" y="2484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Masterplan KV (em execução)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2484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120 dias</a:t>
            </a:r>
          </a:p>
        </p:txBody>
      </p:sp>
      <p:sp>
        <p:nvSpPr>
          <p:cNvPr id="13" name="Oval 12"/>
          <p:cNvSpPr/>
          <p:nvPr/>
        </p:nvSpPr>
        <p:spPr>
          <a:xfrm>
            <a:off x="792000" y="3042000"/>
            <a:ext cx="216000" cy="216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900000" y="3258000"/>
            <a:ext cx="0" cy="377999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60000" y="2934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40000" y="3042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Aprovações e licenças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3042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+120 a 240 dias</a:t>
            </a:r>
          </a:p>
        </p:txBody>
      </p:sp>
      <p:sp>
        <p:nvSpPr>
          <p:cNvPr id="18" name="Oval 17"/>
          <p:cNvSpPr/>
          <p:nvPr/>
        </p:nvSpPr>
        <p:spPr>
          <a:xfrm>
            <a:off x="792000" y="3600000"/>
            <a:ext cx="216000" cy="216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900000" y="3816000"/>
            <a:ext cx="0" cy="377999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60000" y="3492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40000" y="3600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Lançamento Fase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0000" y="3600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0C2B3"/>
                </a:solidFill>
                <a:latin typeface="Cambria" charset="0"/>
                <a:cs typeface="Cambria" charset="0"/>
              </a:rPr>
              <a:t>+6 meses após aprovações</a:t>
            </a:r>
          </a:p>
        </p:txBody>
      </p:sp>
      <p:sp>
        <p:nvSpPr>
          <p:cNvPr id="23" name="Oval 22"/>
          <p:cNvSpPr/>
          <p:nvPr/>
        </p:nvSpPr>
        <p:spPr>
          <a:xfrm>
            <a:off x="792000" y="4158000"/>
            <a:ext cx="216000" cy="216000"/>
          </a:xfrm>
          <a:prstGeom prst="ellipse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900000" y="4374000"/>
            <a:ext cx="0" cy="377999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260000" y="4050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40000" y="4158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TVO parcial — primeiras entregas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0000" y="4158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0EDE6"/>
                </a:solidFill>
                <a:latin typeface="Cambria" charset="0"/>
                <a:cs typeface="Cambria" charset="0"/>
              </a:rPr>
              <a:t>A partir do lançamento</a:t>
            </a:r>
          </a:p>
        </p:txBody>
      </p:sp>
      <p:sp>
        <p:nvSpPr>
          <p:cNvPr id="28" name="Oval 27"/>
          <p:cNvSpPr/>
          <p:nvPr/>
        </p:nvSpPr>
        <p:spPr>
          <a:xfrm>
            <a:off x="792000" y="4716000"/>
            <a:ext cx="216000" cy="216000"/>
          </a:xfrm>
          <a:prstGeom prst="ellipse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900000" y="4932000"/>
            <a:ext cx="0" cy="377999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260000" y="4608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40000" y="471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Execução completa Fase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0000" y="4716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0EDE6"/>
                </a:solidFill>
                <a:latin typeface="Cambria" charset="0"/>
                <a:cs typeface="Cambria" charset="0"/>
              </a:rPr>
              <a:t>3 a 4 anos</a:t>
            </a:r>
          </a:p>
        </p:txBody>
      </p:sp>
      <p:sp>
        <p:nvSpPr>
          <p:cNvPr id="33" name="Oval 32"/>
          <p:cNvSpPr/>
          <p:nvPr/>
        </p:nvSpPr>
        <p:spPr>
          <a:xfrm>
            <a:off x="792000" y="5274000"/>
            <a:ext cx="216000" cy="216000"/>
          </a:xfrm>
          <a:prstGeom prst="ellipse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900000" y="5490000"/>
            <a:ext cx="0" cy="377999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60000" y="5166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40000" y="5274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Lançamento Fase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0000" y="5274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0EDE6"/>
                </a:solidFill>
                <a:latin typeface="Cambria" charset="0"/>
                <a:cs typeface="Cambria" charset="0"/>
              </a:rPr>
              <a:t>2027 - 2028</a:t>
            </a:r>
          </a:p>
        </p:txBody>
      </p:sp>
      <p:sp>
        <p:nvSpPr>
          <p:cNvPr id="38" name="Oval 37"/>
          <p:cNvSpPr/>
          <p:nvPr/>
        </p:nvSpPr>
        <p:spPr>
          <a:xfrm>
            <a:off x="792000" y="5832000"/>
            <a:ext cx="216000" cy="216000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260000" y="5724000"/>
            <a:ext cx="10368000" cy="46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40000" y="5832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mbria" charset="0"/>
                <a:cs typeface="Cambria" charset="0"/>
              </a:rPr>
              <a:t>Expansão contínua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0000" y="5832000"/>
            <a:ext cx="288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9A9A9A"/>
                </a:solidFill>
                <a:latin typeface="Cambria" charset="0"/>
                <a:cs typeface="Cambria" charset="0"/>
              </a:rPr>
              <a:t>2028+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PREMISSAS FINANCEIRAS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Margem capturada integralmente. Capital 100% equity.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11088000" cy="64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648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43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METODOLOGIA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6820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FipeZAP  ·  ADEMI  ·  ABRAINC  ·  CBIC  ·  comparáveis nacionais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060000"/>
            <a:ext cx="11088000" cy="64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0000" y="3060000"/>
            <a:ext cx="43200" cy="648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000" y="315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MARGEM DO INCORPORADOR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020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A tese captura integralmente a margem: entrada a preço de custo, saída a preço de mercado.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780000"/>
            <a:ext cx="11088000" cy="64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0000" y="3780000"/>
            <a:ext cx="43200" cy="648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387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DISTRIBUIÇÃO PROPORCIONAL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1220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Via cotas da S.A.  ·  registro em cartório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4500000"/>
            <a:ext cx="11088000" cy="64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0000" y="4500000"/>
            <a:ext cx="43200" cy="648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000" y="459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TRANSPARÊNCIA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" y="48420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Demonstrações periódicas  ·  auditoria independente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5220000"/>
            <a:ext cx="11088000" cy="648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0000" y="5220000"/>
            <a:ext cx="43200" cy="648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000" y="531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AUSÊNCIA DE ALAVANCAGEM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" y="55620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0EDE6"/>
                </a:solidFill>
                <a:latin typeface="Cambria" charset="0"/>
                <a:cs typeface="Cambria" charset="0"/>
              </a:rPr>
              <a:t>Capital 100% equity  ·  o tempo joga a favor do ativo  ·  zero exposição a juros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JUBIABÁ vs. ALTERNATIVAS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Real estate + localização inexplorada + timing.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40000"/>
            <a:ext cx="11088000" cy="306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2412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00C2B3"/>
                </a:solidFill>
                <a:latin typeface="Calibri" charset="0"/>
                <a:cs typeface="Calibri" charset="0"/>
              </a:rPr>
              <a:t>MÉTRICA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2412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00C2B3"/>
                </a:solidFill>
                <a:latin typeface="Calibri" charset="0"/>
                <a:cs typeface="Calibri" charset="0"/>
              </a:rPr>
              <a:t>RENDA FIXA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0" y="2412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00C2B3"/>
                </a:solidFill>
                <a:latin typeface="Calibri" charset="0"/>
                <a:cs typeface="Calibri" charset="0"/>
              </a:rPr>
              <a:t>BOLSA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000" y="2412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00C2B3"/>
                </a:solidFill>
                <a:latin typeface="Calibri" charset="0"/>
                <a:cs typeface="Calibri" charset="0"/>
              </a:rPr>
              <a:t>IMÓVEL URBANO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0000" y="2412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00C2B3"/>
                </a:solidFill>
                <a:latin typeface="Calibri" charset="0"/>
                <a:cs typeface="Calibri" charset="0"/>
              </a:rPr>
              <a:t>JUBIABÁ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646000"/>
            <a:ext cx="11088000" cy="432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0000" y="2790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Retorno Médio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2790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10-12% a.a.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0000" y="2790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Variável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0" y="2790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0,5-1% a.m.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2790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2B3"/>
                </a:solidFill>
                <a:latin typeface="Cambria" charset="0"/>
                <a:cs typeface="Cambria" charset="0"/>
              </a:rPr>
              <a:t>60-120% a.a.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222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Risco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0" y="3222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Baixo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000" y="3222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0000" y="3222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Baixo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0" y="3222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2B3"/>
                </a:solidFill>
                <a:latin typeface="Cambria" charset="0"/>
                <a:cs typeface="Cambria" charset="0"/>
              </a:rPr>
              <a:t>Mitigado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510000"/>
            <a:ext cx="11088000" cy="4320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000" y="3654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Liquidez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0000" y="3654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0000" y="3654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0000" y="3654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Baixa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00" y="3654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2B3"/>
                </a:solidFill>
                <a:latin typeface="Cambria" charset="0"/>
                <a:cs typeface="Cambria" charset="0"/>
              </a:rPr>
              <a:t>Estruturada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4086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Perfil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0000" y="4086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Proteção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0000" y="4086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Volátil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0000" y="4086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Maduro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00" y="4086000"/>
            <a:ext cx="23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2B3"/>
                </a:solidFill>
                <a:latin typeface="Cambria" charset="0"/>
                <a:cs typeface="Cambria" charset="0"/>
              </a:rPr>
              <a:t>Real + Timing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0000" y="4860000"/>
            <a:ext cx="11088000" cy="9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0000" y="4860000"/>
            <a:ext cx="43200" cy="90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2000" y="4986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B8942E"/>
                </a:solidFill>
                <a:latin typeface="Calibri" charset="0"/>
                <a:cs typeface="Calibri" charset="0"/>
              </a:rPr>
              <a:t>A FÓRMULA DO RETORNO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000" y="5256000"/>
            <a:ext cx="1044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FFFFFF"/>
                </a:solidFill>
                <a:latin typeface="Cambria" charset="0"/>
                <a:cs typeface="Cambria" charset="0"/>
              </a:rPr>
              <a:t>Real Estate Tangível  +  Localização Inexplorada  +  Timing (Fase 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PROJEÇÃO DE RETORNO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107565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EXPLORER  ·  Diversificação de portfólio.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INVESTIMENTO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R$ 300.000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4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4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4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COTAS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4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1 cota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8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8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ÁREA EQUIVALENTE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54,57 m²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2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72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2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CUSTO POR 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2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R$ 5.497 / m²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0000" y="3708000"/>
            <a:ext cx="3618000" cy="180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6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CONSERVADOR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R$ 654.840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A9A9A"/>
                </a:solidFill>
                <a:latin typeface="Cambria" charset="0"/>
                <a:cs typeface="Cambria" charset="0"/>
              </a:rPr>
              <a:t>2,18x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2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02000" y="3708000"/>
            <a:ext cx="361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18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REALISTA (BASE)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8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R$ 944.143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8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3,14x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4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64000" y="3708000"/>
            <a:ext cx="3618000" cy="18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80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OTIMISTA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0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R$ 1.098.213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8942E"/>
                </a:solidFill>
                <a:latin typeface="Cambria" charset="0"/>
                <a:cs typeface="Cambria" charset="0"/>
              </a:rPr>
              <a:t>3,66x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Projeções baseadas em análise de mercado e histórico de valorização. Retornos passados não garantem resultados futuros. Consulte o prospecto completo antes de investir.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PROJEÇÃO DE RETORNO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1008975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FOUNDER  ·  O ponto de equilíbrio perfeito.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0000" y="1584000"/>
            <a:ext cx="1620000" cy="485999"/>
          </a:xfrm>
          <a:prstGeom prst="roundRect">
            <a:avLst>
              <a:gd name="adj" fmla="val 6000"/>
            </a:avLst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9432" y="1614242"/>
            <a:ext cx="16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400" dirty="0">
                <a:solidFill>
                  <a:srgbClr val="0A0A0A"/>
                </a:solidFill>
                <a:latin typeface="Calibri" charset="0"/>
                <a:cs typeface="Calibri" charset="0"/>
              </a:rPr>
              <a:t>★ RECOMENDADO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0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INVESTIMENTO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R$ 1.200.000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4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4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4 cotas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8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8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8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ÁREA EQUIVALENTE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266,80 m²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2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72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2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CUSTO POR 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2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R$ 4.497 / m²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0000" y="3708000"/>
            <a:ext cx="3618000" cy="180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6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CONSERVADOR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R$ 3.201.600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A9A9A"/>
                </a:solidFill>
                <a:latin typeface="Cambria" charset="0"/>
                <a:cs typeface="Cambria" charset="0"/>
              </a:rPr>
              <a:t>2,67x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000" y="5688000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R$ 12.000 / m²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2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02000" y="3708000"/>
            <a:ext cx="361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8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REALISTA (BASE)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8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R$ 4.613.440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8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3,84x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8000" y="5688000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R$ 17.291 / m²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4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64000" y="3708000"/>
            <a:ext cx="3618000" cy="18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80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OTIMISTA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R$ 5.360.680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0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8942E"/>
                </a:solidFill>
                <a:latin typeface="Cambria" charset="0"/>
                <a:cs typeface="Cambria" charset="0"/>
              </a:rPr>
              <a:t>4,47x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0000" y="5688000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R$ 20.092 / m²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Projeções baseadas em análise de mercado e histórico de valorização. Retornos passados não garantem resultados futuros. Consulte o prospecto completo antes de investir.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PROJEÇÃO DE RETORNO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1066125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LEGACY  ·  Family Office  ·  Institucional.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INVESTIMENTO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R$ 2.100.000+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4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4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4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COTAS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4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7+ cotas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8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8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ÁREA EQUIVALENTE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525 m²+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2000" y="2340000"/>
            <a:ext cx="2772000" cy="10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72000" y="2340000"/>
            <a:ext cx="43200" cy="10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2000" y="2466000"/>
            <a:ext cx="25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CUSTO POR 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2000" y="2718000"/>
            <a:ext cx="25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R$ 4.000 / m²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0000" y="3708000"/>
            <a:ext cx="3618000" cy="180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6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CONSERVADOR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R$ 6.300.000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A9A9A"/>
                </a:solidFill>
                <a:latin typeface="Cambria" charset="0"/>
                <a:cs typeface="Cambria" charset="0"/>
              </a:rPr>
              <a:t>3,00x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000" y="5688000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R$ 12.000 / m²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2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2000" y="3708000"/>
            <a:ext cx="361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8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REALISTA (BASE)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8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R$ 9.082.500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8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4,33x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8000" y="5688000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R$ 17.291 / m²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4000" y="3708000"/>
            <a:ext cx="3618000" cy="230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64000" y="3708000"/>
            <a:ext cx="3618000" cy="18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80000" y="3959999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OTIMISTA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000" y="4320000"/>
            <a:ext cx="3258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R$ 10.552.500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000" y="5292000"/>
            <a:ext cx="325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B8942E"/>
                </a:solidFill>
                <a:latin typeface="Cambria" charset="0"/>
                <a:cs typeface="Cambria" charset="0"/>
              </a:rPr>
              <a:t>5,03x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0" y="5688000"/>
            <a:ext cx="325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R$ 20.092 / m²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Projeções baseadas em análise de mercado e histórico de valorização. Retornos passados não garantem resultados futuros. Consulte o prospecto completo antes de investir.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5" descr="Mangue-Seco-e-Praia-do-Sac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3" name="Rectangle 6">
            <a:extLst>
              <a:ext uri="{FF2B5EF4-FFF2-40B4-BE49-F238E27FC236}">
                <a16:creationId xmlns:a16="http://schemas.microsoft.com/office/drawing/2014/main" id="{A8E6EA1F-7391-5CCD-B1F5-51A44D780FC2}"/>
              </a:ext>
            </a:extLst>
          </p:cNvPr>
          <p:cNvSpPr/>
          <p:nvPr/>
        </p:nvSpPr>
        <p:spPr>
          <a:xfrm>
            <a:off x="-210312" y="-100584"/>
            <a:ext cx="12402431" cy="6958584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ANÁLISE DE SENSIBILIDADE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Três cenários. Três testes de estresse.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71999" cy="19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3671999" cy="1440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520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CONSERVADOR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08000"/>
            <a:ext cx="32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R$ 12.000 / 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56000"/>
            <a:ext cx="324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Valorização estagnada — sem prêmio de infraestrutura ou marca.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Mesmo aqui: 2,18x mínimo.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2340000"/>
            <a:ext cx="3671999" cy="19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0000" y="2340000"/>
            <a:ext cx="3671999" cy="1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0000" y="2520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REALISTA (BASE)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2808000"/>
            <a:ext cx="32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R$ 17.291 /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3456000"/>
            <a:ext cx="324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Correção inflacionária + prêmio de desenvolvimento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padrão resort de luxo.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2340000"/>
            <a:ext cx="3671999" cy="19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0000" y="2340000"/>
            <a:ext cx="3671999" cy="144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0000" y="2520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OTIMISTA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0" y="2808000"/>
            <a:ext cx="32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R$ 20.092 /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3456000"/>
            <a:ext cx="3240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Alta demanda consolidando Jubiabá como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novo polo nacional — Efeito Jurerê/Trancoso.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500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TESTE DE ESTRESSE  ·  3 VARIÁVEIS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860000"/>
            <a:ext cx="11088000" cy="39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000" y="4968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PREÇO DE VENDA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0" y="4975200"/>
            <a:ext cx="18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±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0" y="4968000"/>
            <a:ext cx="18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ALTO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49752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principal motor da margem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5292000"/>
            <a:ext cx="11088000" cy="39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0000" y="540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CRONOGRAMA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0" y="5407200"/>
            <a:ext cx="18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± 6 meses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0" y="5400000"/>
            <a:ext cx="18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MÉDIO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0" y="54072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sem dívida bancária, não corrói capital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000" y="5724000"/>
            <a:ext cx="11088000" cy="396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0000" y="5832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mbria" charset="0"/>
                <a:cs typeface="Cambria" charset="0"/>
              </a:rPr>
              <a:t>TAXA DE OCUPAÇÃO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0" y="5839200"/>
            <a:ext cx="18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EDE6"/>
                </a:solidFill>
                <a:latin typeface="Calibri" charset="0"/>
                <a:cs typeface="Calibri" charset="0"/>
              </a:rPr>
              <a:t>± 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0" y="5832000"/>
            <a:ext cx="18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MÉDIO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0" y="58392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EDE6"/>
                </a:solidFill>
                <a:latin typeface="Calibri" charset="0"/>
                <a:cs typeface="Calibri" charset="0"/>
              </a:rPr>
              <a:t>afeta receita hoteleira, não o VGV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Projeções baseadas em análise de mercado e histórico de valorização. Retornos passados não garantem resultados futuros. Consulte o prospecto completo antes de investir.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PAYBACK DO INVESTIDOR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11709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Da assinatura ao lucro puro.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997100"/>
            <a:ext cx="2772000" cy="28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1997100"/>
            <a:ext cx="2772000" cy="1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2131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C2B3"/>
                </a:solidFill>
                <a:latin typeface="Cambria" charset="0"/>
                <a:cs typeface="Cambria" charset="0"/>
              </a:rPr>
              <a:t>M0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61100"/>
            <a:ext cx="24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APORTE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0000" y="3257100"/>
            <a:ext cx="720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401100"/>
            <a:ext cx="2412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Capital aportado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Garantia Real imediata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997100"/>
            <a:ext cx="2772000" cy="28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4000" y="1997100"/>
            <a:ext cx="2772000" cy="144000"/>
          </a:xfrm>
          <a:prstGeom prst="rect">
            <a:avLst/>
          </a:prstGeom>
          <a:solidFill>
            <a:srgbClr val="F0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4000" y="22131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0EDE6"/>
                </a:solidFill>
                <a:latin typeface="Cambria" charset="0"/>
                <a:cs typeface="Cambria" charset="0"/>
              </a:rPr>
              <a:t>M36-42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2861100"/>
            <a:ext cx="24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PRIMEIRA RECEITA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4000" y="3257100"/>
            <a:ext cx="720000" cy="0"/>
          </a:xfrm>
          <a:prstGeom prst="line">
            <a:avLst/>
          </a:prstGeom>
          <a:ln w="12700">
            <a:solidFill>
              <a:srgbClr val="F0E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4000" y="3401100"/>
            <a:ext cx="2412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Início das vendas Etapa 01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(Seaside)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Primeiras distribuições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8000" y="1997100"/>
            <a:ext cx="2772000" cy="28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8000" y="1997100"/>
            <a:ext cx="2772000" cy="144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8000" y="22131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B8942E"/>
                </a:solidFill>
                <a:latin typeface="Cambria" charset="0"/>
                <a:cs typeface="Cambria" charset="0"/>
              </a:rPr>
              <a:t>M48-56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2861100"/>
            <a:ext cx="24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PAYBACK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8000" y="3257100"/>
            <a:ext cx="720000" cy="0"/>
          </a:xfrm>
          <a:prstGeom prst="line">
            <a:avLst/>
          </a:prstGeom>
          <a:ln w="12700">
            <a:solidFill>
              <a:srgbClr val="B89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8000" y="3401100"/>
            <a:ext cx="2412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Retorno integral do capital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Risco financeiro zerado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2000" y="1997100"/>
            <a:ext cx="2772000" cy="288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72000" y="1997100"/>
            <a:ext cx="2772000" cy="14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52000" y="2213100"/>
            <a:ext cx="2412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C2B3"/>
                </a:solidFill>
                <a:latin typeface="Cambria" charset="0"/>
                <a:cs typeface="Cambria" charset="0"/>
              </a:rPr>
              <a:t>M56+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2000" y="2861100"/>
            <a:ext cx="24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LUCRO PURO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52000" y="3257100"/>
            <a:ext cx="720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52000" y="3401100"/>
            <a:ext cx="2412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Distribuição dos lucros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+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Receita hoteleira recorrente Hamam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" y="5400000"/>
            <a:ext cx="11088000" cy="900000"/>
          </a:xfrm>
          <a:prstGeom prst="roundRect">
            <a:avLst>
              <a:gd name="adj" fmla="val 6000"/>
            </a:avLst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0000" y="5400000"/>
            <a:ext cx="43200" cy="900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2000" y="550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B8942E"/>
                </a:solidFill>
                <a:latin typeface="Calibri" charset="0"/>
                <a:cs typeface="Calibri" charset="0"/>
              </a:rPr>
              <a:t>EXEMPLO PRÁTICO  ·  COTA EXPLORER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000" y="5760000"/>
            <a:ext cx="1044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 charset="0"/>
                <a:cs typeface="Cambria" charset="0"/>
              </a:rPr>
              <a:t>R$ 300.000  →  Lucro de R$ 354k a R$ 798k  ·  Múltiplo 2,18x a 3,66x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Projeções baseadas em análise de mercado e histórico de valorização. Retornos passados não garantem resultados futuros. Consulte o prospecto completo antes de investir.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ESTRUTURA DE SAÍDA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Três opções. Máxima flexibilidade.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71999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1999" y="2591999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1999" y="3672000"/>
            <a:ext cx="3168001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1999" y="3780000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 charset="0"/>
                <a:cs typeface="Cambria" charset="0"/>
              </a:rPr>
              <a:t>VENDA PARA LUCRO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4680000"/>
            <a:ext cx="3168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Revenda a mercado.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Realização do multiplicador 3x - 6x.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Foco em liquidez máxima.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999" y="2340000"/>
            <a:ext cx="3671999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7998" y="2591999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F0EDE6"/>
                </a:solidFill>
                <a:latin typeface="Cambria" charset="0"/>
                <a:cs typeface="Cambria" charset="0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07998" y="3672000"/>
            <a:ext cx="3168001" cy="0"/>
          </a:xfrm>
          <a:prstGeom prst="line">
            <a:avLst/>
          </a:prstGeom>
          <a:ln w="12700">
            <a:solidFill>
              <a:srgbClr val="F0E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07998" y="3780000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 charset="0"/>
                <a:cs typeface="Cambria" charset="0"/>
              </a:rPr>
              <a:t>PERMANÊNCIA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7998" y="4680000"/>
            <a:ext cx="3168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Uso próprio (segunda residência)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ou locação tradicional.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Preservação de patrimônio em ativo real.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1998" y="2340000"/>
            <a:ext cx="3671999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3997" y="2591999"/>
            <a:ext cx="10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B8942E"/>
                </a:solidFill>
                <a:latin typeface="Cambria" charset="0"/>
                <a:cs typeface="Cambria" charset="0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23997" y="3672000"/>
            <a:ext cx="3168001" cy="0"/>
          </a:xfrm>
          <a:prstGeom prst="line">
            <a:avLst/>
          </a:prstGeom>
          <a:ln w="12700">
            <a:solidFill>
              <a:srgbClr val="B89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23997" y="3780000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 charset="0"/>
                <a:cs typeface="Cambria" charset="0"/>
              </a:rPr>
              <a:t>CONDO-HOTEL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3997" y="4680000"/>
            <a:ext cx="3168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Pool hoteleiro gerido pela Hamam Global.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Receita passiva recorrente.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F0EDE6"/>
              </a:solidFill>
              <a:latin typeface="Calibri" charset="0"/>
              <a:cs typeface="Calibri" charset="0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EDE6"/>
                </a:solidFill>
                <a:latin typeface="Calibri" charset="0"/>
                <a:cs typeface="Calibri" charset="0"/>
              </a:rPr>
              <a:t>Gestão profissional end-to-end.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USO DOS RECURSOS  ·  ROUND 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R$ 10 milhões  ·  destinação carimbada.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448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6000" y="2592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ESTRUTURAÇÃO &amp; APROVAÇÕES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4000" y="2520000"/>
            <a:ext cx="14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b="1" i="0">
                <a:solidFill>
                  <a:srgbClr val="00C2B3"/>
                </a:solidFill>
                <a:latin typeface="Cambria" charset="0"/>
                <a:cs typeface="Cambria" charset="0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3348000"/>
            <a:ext cx="518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Projetos executivos KV  ·  licenças  ·  taxas  ·  SPE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2448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8000" y="2592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INFRA &amp; ACESSO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6000" y="2520000"/>
            <a:ext cx="14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b="1" i="0">
                <a:solidFill>
                  <a:srgbClr val="00C2B3"/>
                </a:solidFill>
                <a:latin typeface="Cambria" charset="0"/>
                <a:cs typeface="Cambria" charset="0"/>
              </a:rP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3348000"/>
            <a:ext cx="518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Terraplenagem  ·  pavimentação  ·  redes primárias Etapa 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4392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000" y="4536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CONSTRUÇÃO ETAPA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000" y="4464000"/>
            <a:ext cx="14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b="1" i="0">
                <a:solidFill>
                  <a:srgbClr val="00C2B3"/>
                </a:solidFill>
                <a:latin typeface="Cambria" charset="0"/>
                <a:cs typeface="Cambria" charset="0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5292000"/>
            <a:ext cx="518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Fundações  ·  primeiras unidades Seaside  ·  áreas comuns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4392000"/>
            <a:ext cx="5544000" cy="1835999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8000" y="4536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FUNDO DE CONTINGÊNCIA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6000" y="4464000"/>
            <a:ext cx="144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b="1" i="0">
                <a:solidFill>
                  <a:srgbClr val="00C2B3"/>
                </a:solidFill>
                <a:latin typeface="Cambria" charset="0"/>
                <a:cs typeface="Cambria" charset="0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5292000"/>
            <a:ext cx="5184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Reserva para variações de custo e imprevistos operacionais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O MOAT DO PROJETO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Seis diferenciais estruturais  ·  barreira intransponível.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1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1999" y="3420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1999" y="3492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LITORAL VIRGEM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3815999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Praias intocadas  ·  privacidade  ·  contraste com destinos saturados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2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53999" y="3420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53999" y="3492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SMART CITY PLANTA 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999" y="3815999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Infraestrutura tecnológica subterrânea desde o zero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4000" y="2340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5999" y="2520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15999" y="3420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15999" y="3492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HOSPITALIDADE INTEGRADA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999" y="3815999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Hamam Global  ·  padrão internacional desde o primeiro 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1999" y="460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1999" y="5508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1999" y="5580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ARQUITETURA DE AUTOR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999" y="5903999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KV  ·  valor estético inquestionável  ·  chancela premium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2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999" y="460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999" y="5508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53999" y="5580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SUSTENTABILIDADE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999" y="5903999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ZEEC aprovado  ·  dark-sky  ·  APP como parque natural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4428000"/>
            <a:ext cx="3618000" cy="194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5999" y="4608000"/>
            <a:ext cx="72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C2B3"/>
                </a:solidFill>
                <a:latin typeface="Cambria" charset="0"/>
                <a:cs typeface="Cambria" charset="0"/>
              </a:rPr>
              <a:t>06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15999" y="5508000"/>
            <a:ext cx="756000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15999" y="5580000"/>
            <a:ext cx="325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 charset="0"/>
                <a:cs typeface="Calibri" charset="0"/>
              </a:rPr>
              <a:t>ACESSIBILIDADE ESTRATÉGICA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999" y="5903999"/>
            <a:ext cx="3258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50 min do aeroporto  ·  Linha Verde  ·  polo industrial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MATRIZ DE RISCOS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Cinco riscos. Todos mapeados antes da captação.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11088000" cy="68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43200" cy="68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000" y="2448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MERCADO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718000"/>
            <a:ext cx="1080000" cy="23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000" y="2736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MITIGADO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0" y="2538000"/>
            <a:ext cx="792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Demanda comprovada (9x)  ·  escassez de produtos premium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3096000"/>
            <a:ext cx="11088000" cy="68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0000" y="3096000"/>
            <a:ext cx="43200" cy="68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000" y="3204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EXECUÇÃO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474000"/>
            <a:ext cx="1080000" cy="23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000" y="3492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MITIGADO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294000"/>
            <a:ext cx="792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Sistema GSWP  ·  parcerias KV e Hamam  ·  cronograma estruturado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3852000"/>
            <a:ext cx="11088000" cy="68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0000" y="3852000"/>
            <a:ext cx="43200" cy="68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000" y="3960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AMBIENTAL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4230000"/>
            <a:ext cx="1080000" cy="23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000" y="4248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MITIGADO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0" y="4050000"/>
            <a:ext cx="792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ZEEC aprovado  ·  compliance-first desde a concepção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4608000"/>
            <a:ext cx="11088000" cy="68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0000" y="4608000"/>
            <a:ext cx="43200" cy="68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2000" y="4716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REGULATÓRIO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4986000"/>
            <a:ext cx="1080000" cy="234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000" y="5004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MITIGADO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0" y="4806000"/>
            <a:ext cx="792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Aprovações municipais regularizadas  ·  sem passivos ocultos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" y="5364000"/>
            <a:ext cx="11088000" cy="684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0000" y="5364000"/>
            <a:ext cx="43200" cy="684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2000" y="5472000"/>
            <a:ext cx="25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FINANCEIRO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000" y="5742000"/>
            <a:ext cx="1080000" cy="2340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2000" y="5760000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BLINDADO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0" y="5562000"/>
            <a:ext cx="792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0EDE6"/>
                </a:solidFill>
                <a:latin typeface="Cambria" charset="0"/>
                <a:cs typeface="Cambria" charset="0"/>
              </a:rPr>
              <a:t>Aporte 100% lastreado em garantia real  ·  registro em cartório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0" name="Rectangle 6">
            <a:extLst>
              <a:ext uri="{FF2B5EF4-FFF2-40B4-BE49-F238E27FC236}">
                <a16:creationId xmlns:a16="http://schemas.microsoft.com/office/drawing/2014/main" id="{0EB142A9-82BB-9A9E-302A-A3D5A38E2B9F}"/>
              </a:ext>
            </a:extLst>
          </p:cNvPr>
          <p:cNvSpPr/>
          <p:nvPr/>
        </p:nvSpPr>
        <p:spPr>
          <a:xfrm>
            <a:off x="-210312" y="-100584"/>
            <a:ext cx="12402431" cy="6958584"/>
          </a:xfrm>
          <a:prstGeom prst="rect">
            <a:avLst/>
          </a:prstGeom>
          <a:solidFill>
            <a:srgbClr val="0A0A0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ESG &amp; IMPACTO REGIONAL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Sustentabilidade não como narrativa  ·  como concepção.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217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2340000"/>
            <a:ext cx="217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4000" y="2664000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28-35%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80000" y="3564000"/>
            <a:ext cx="109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4000" y="3708000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APP como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Parque Natural integrado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860000"/>
            <a:ext cx="189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Cordão dunar preservado em sua integridade.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0000" y="2340000"/>
            <a:ext cx="217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90000" y="2340000"/>
            <a:ext cx="217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34000" y="2664000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Dark-Sky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0000" y="3564000"/>
            <a:ext cx="109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34000" y="3708000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Proteção a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tartarugas marinhas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4000" y="4860000"/>
            <a:ext cx="189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Diferencial de consciência ambiental e marketing.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2340000"/>
            <a:ext cx="217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40000" y="2340000"/>
            <a:ext cx="217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84000" y="2664000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Solar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80000" y="3564000"/>
            <a:ext cx="109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84000" y="3708000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Energia limpa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+ SUDS + 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000" y="4860000"/>
            <a:ext cx="189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Sem emissão na orla. Matriz totalmente renovável.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000" y="2340000"/>
            <a:ext cx="217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0000" y="2340000"/>
            <a:ext cx="217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34000" y="2664000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Local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30000" y="3564000"/>
            <a:ext cx="109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34000" y="3708000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Geração de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emprego e renda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00" y="4860000"/>
            <a:ext cx="189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Cadeia produtiva regional fortalecida.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40000" y="2340000"/>
            <a:ext cx="217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40000" y="2340000"/>
            <a:ext cx="2178000" cy="18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84000" y="2664000"/>
            <a:ext cx="189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B3"/>
                </a:solidFill>
                <a:latin typeface="Cambria" charset="0"/>
                <a:cs typeface="Cambria" charset="0"/>
              </a:rPr>
              <a:t>Ciclovia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80000" y="3564000"/>
            <a:ext cx="109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84000" y="3708000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Mobilidade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mbria" charset="0"/>
                <a:cs typeface="Cambria" charset="0"/>
              </a:rPr>
              <a:t>limpa integrada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4000" y="4860000"/>
            <a:ext cx="189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Vias com ciclofaixas  ·  shuttle elétrico interno.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A EQUIPE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Três líderes. Três operações de classe mundial.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671999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0000" y="2520000"/>
            <a:ext cx="3311999" cy="1620000"/>
          </a:xfrm>
          <a:prstGeom prst="roundRect">
            <a:avLst>
              <a:gd name="adj" fmla="val 6000"/>
            </a:avLst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843999"/>
            <a:ext cx="3311999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00C2B3"/>
                </a:solidFill>
                <a:latin typeface="Cambria" charset="0"/>
                <a:cs typeface="Cambria" charset="0"/>
              </a:rPr>
              <a:t>BZ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1999" y="4320000"/>
            <a:ext cx="3168001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1999" y="4392000"/>
            <a:ext cx="316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BRUNO ZANUTO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99" y="4824000"/>
            <a:ext cx="316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CEO &amp; FUNDADOR  ·  GSWP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999" y="5184000"/>
            <a:ext cx="316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Desenvolvimento imobiliário e governança.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Operação validada por fundos institucionais.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Sistema construtivo proprietário.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5999" y="2340000"/>
            <a:ext cx="3671999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35999" y="2520000"/>
            <a:ext cx="3311999" cy="1620000"/>
          </a:xfrm>
          <a:prstGeom prst="roundRect">
            <a:avLst>
              <a:gd name="adj" fmla="val 6000"/>
            </a:avLst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999" y="2843999"/>
            <a:ext cx="3311999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00C2B3"/>
                </a:solidFill>
                <a:latin typeface="Cambria" charset="0"/>
                <a:cs typeface="Cambria" charset="0"/>
              </a:rPr>
              <a:t>KV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07998" y="4320000"/>
            <a:ext cx="3168001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07998" y="4392000"/>
            <a:ext cx="316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KONIGSBERGER VANNUCCHI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7998" y="4824000"/>
            <a:ext cx="316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MASTERPLAN &amp; ARQUITETURA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7998" y="5184000"/>
            <a:ext cx="316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53 anos de operação.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Referência absoluta do Brasil em masterplans + residencial premium.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893 projetos  ·  R$ 18Bi de VGV.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1998" y="2340000"/>
            <a:ext cx="3671999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351998" y="2520000"/>
            <a:ext cx="3311999" cy="1620000"/>
          </a:xfrm>
          <a:prstGeom prst="roundRect">
            <a:avLst>
              <a:gd name="adj" fmla="val 6000"/>
            </a:avLst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1998" y="2843999"/>
            <a:ext cx="3311999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00C2B3"/>
                </a:solidFill>
                <a:latin typeface="Cambria" charset="0"/>
                <a:cs typeface="Cambria" charset="0"/>
              </a:rPr>
              <a:t>HG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23997" y="4320000"/>
            <a:ext cx="3168001" cy="0"/>
          </a:xfrm>
          <a:prstGeom prst="line">
            <a:avLst/>
          </a:prstGeom>
          <a:ln w="1270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23997" y="4392000"/>
            <a:ext cx="316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 charset="0"/>
                <a:cs typeface="Cambria" charset="0"/>
              </a:rPr>
              <a:t>HAMAM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3997" y="4824000"/>
            <a:ext cx="316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00C2B3"/>
                </a:solidFill>
                <a:latin typeface="Calibri" charset="0"/>
                <a:cs typeface="Calibri" charset="0"/>
              </a:rPr>
              <a:t>HOSPITALIDADE INTEGRADA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3997" y="5184000"/>
            <a:ext cx="316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26 anos de operação.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Líder da América Latina em FF&amp;E/OS&amp;E.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0EDE6"/>
                </a:solidFill>
                <a:latin typeface="Calibri" charset="0"/>
                <a:cs typeface="Calibri" charset="0"/>
              </a:rPr>
              <a:t>3 hubs globais  ·  +250 hotéis entregues.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ESCOLHA SUA PARTICIPAÇÃO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Três tickets. Maximizando poder de compra.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370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6000" y="2591999"/>
            <a:ext cx="334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 charset="0"/>
                <a:cs typeface="Cambria" charset="0"/>
              </a:rPr>
              <a:t>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167999"/>
            <a:ext cx="33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1 COTA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6000" y="3527999"/>
            <a:ext cx="327600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6000" y="3635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INVESTIMENTO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3797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R$ 300.000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" y="4193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ÁREA EQUIVALENTE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4355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 charset="0"/>
                <a:cs typeface="Cambria" charset="0"/>
              </a:rPr>
              <a:t>54,57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4751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A9A9A"/>
                </a:solidFill>
                <a:latin typeface="Calibri" charset="0"/>
                <a:cs typeface="Calibri" charset="0"/>
              </a:rPr>
              <a:t>CUSTO POR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913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R$ 5.497 /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" y="5616000"/>
            <a:ext cx="334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FFFFF"/>
                </a:solidFill>
                <a:latin typeface="Cambria" charset="0"/>
                <a:cs typeface="Cambria" charset="0"/>
              </a:rPr>
              <a:t>Diversificação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FFFFF"/>
                </a:solidFill>
                <a:latin typeface="Cambria" charset="0"/>
                <a:cs typeface="Cambria" charset="0"/>
              </a:rPr>
              <a:t>de portfólio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3999" y="2340000"/>
            <a:ext cx="3708000" cy="3960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89999" y="2520000"/>
            <a:ext cx="33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A0A0A"/>
                </a:solidFill>
                <a:latin typeface="Calibri" charset="0"/>
                <a:cs typeface="Calibri" charset="0"/>
              </a:rPr>
              <a:t>★ RECOMENDADO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9999" y="2843999"/>
            <a:ext cx="334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A0A0A"/>
                </a:solidFill>
                <a:latin typeface="Cambria" charset="0"/>
                <a:cs typeface="Cambria" charset="0"/>
              </a:rPr>
              <a:t>FOUNDER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9999" y="3419999"/>
            <a:ext cx="33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4 COTAS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89999" y="3779999"/>
            <a:ext cx="3276000" cy="0"/>
          </a:xfrm>
          <a:prstGeom prst="line">
            <a:avLst/>
          </a:prstGeom>
          <a:ln w="127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89999" y="3887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INVESTIMENTO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9999" y="4049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mbria" charset="0"/>
                <a:cs typeface="Cambria" charset="0"/>
              </a:rPr>
              <a:t>R$ 1.200.000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9999" y="4445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ÁREA EQUIVALENTE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9999" y="4607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mbria" charset="0"/>
                <a:cs typeface="Cambria" charset="0"/>
              </a:rPr>
              <a:t>266,80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9999" y="5003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0A0A0A"/>
                </a:solidFill>
                <a:latin typeface="Calibri" charset="0"/>
                <a:cs typeface="Calibri" charset="0"/>
              </a:rPr>
              <a:t>CUSTO POR 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9999" y="5165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0A0A"/>
                </a:solidFill>
                <a:latin typeface="Cambria" charset="0"/>
                <a:cs typeface="Cambria" charset="0"/>
              </a:rPr>
              <a:t>R$ 4.497 /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9999" y="5616000"/>
            <a:ext cx="334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0A0A0A"/>
                </a:solidFill>
                <a:latin typeface="Cambria" charset="0"/>
                <a:cs typeface="Cambria" charset="0"/>
              </a:rPr>
              <a:t>Ponto de equilíbrio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0A0A0A"/>
                </a:solidFill>
                <a:latin typeface="Cambria" charset="0"/>
                <a:cs typeface="Cambria" charset="0"/>
              </a:rPr>
              <a:t>perfeito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7998" y="2340000"/>
            <a:ext cx="3708000" cy="396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23998" y="2591999"/>
            <a:ext cx="334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 charset="0"/>
                <a:cs typeface="Cambria" charset="0"/>
              </a:rPr>
              <a:t>LEGACY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3998" y="3167999"/>
            <a:ext cx="33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7+ COTAS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23998" y="3527999"/>
            <a:ext cx="3276000" cy="0"/>
          </a:xfrm>
          <a:prstGeom prst="line">
            <a:avLst/>
          </a:prstGeom>
          <a:ln w="12700">
            <a:solidFill>
              <a:srgbClr val="B89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23998" y="3635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INVESTIMENTO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3998" y="3797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R$ 2.100.000+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3998" y="4193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ÁREA EQUIVALENTE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3998" y="4355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 charset="0"/>
                <a:cs typeface="Cambria" charset="0"/>
              </a:rPr>
              <a:t>525+ m²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3998" y="4751999"/>
            <a:ext cx="334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B8942E"/>
                </a:solidFill>
                <a:latin typeface="Calibri" charset="0"/>
                <a:cs typeface="Calibri" charset="0"/>
              </a:rPr>
              <a:t>CUSTO POR M²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3998" y="4913999"/>
            <a:ext cx="33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 charset="0"/>
                <a:cs typeface="Cambria" charset="0"/>
              </a:rPr>
              <a:t>R$ 4.000 / m²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3998" y="5616000"/>
            <a:ext cx="334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FFFFF"/>
                </a:solidFill>
                <a:latin typeface="Cambria" charset="0"/>
                <a:cs typeface="Cambria" charset="0"/>
              </a:rPr>
              <a:t>Family Office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FFFFF"/>
                </a:solidFill>
                <a:latin typeface="Cambria" charset="0"/>
                <a:cs typeface="Cambria" charset="0"/>
              </a:rPr>
              <a:t>Institucional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6372000"/>
            <a:ext cx="1108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942E"/>
                </a:solidFill>
                <a:latin typeface="Cambria" charset="0"/>
                <a:cs typeface="Cambria" charset="0"/>
              </a:rPr>
              <a:t>Os valores de m² são progressivamente menores para maior volume — maximizando poder de compra.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Projeções baseadas em análise de mercado e histórico de valorização. Retornos passados não garantem resultados futuros. Consulte o prospecto completo antes de investir.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72000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 dirty="0">
                <a:solidFill>
                  <a:srgbClr val="00C2B3"/>
                </a:solidFill>
                <a:latin typeface="Calibri" charset="0"/>
                <a:cs typeface="Calibri" charset="0"/>
              </a:rPr>
              <a:t>PRÓXIMOS PASSOS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774000"/>
            <a:ext cx="10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828000"/>
            <a:ext cx="10800000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Cambria" charset="0"/>
                <a:cs typeface="Cambria" charset="0"/>
              </a:rPr>
              <a:t>Processo de adesão objetivo.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2178000" cy="27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0000" y="252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257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38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INTERESSE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0000" y="3888000"/>
            <a:ext cx="181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4000" y="3995999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0EDE6"/>
                </a:solidFill>
                <a:latin typeface="Cambria" charset="0"/>
                <a:cs typeface="Cambria" charset="0"/>
              </a:rPr>
              <a:t>Contato com GSWP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0000" y="2340000"/>
            <a:ext cx="2178000" cy="27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70000" y="252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70000" y="257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4000" y="338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NDA + DATA ROOM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0000" y="3888000"/>
            <a:ext cx="181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34000" y="3995999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0EDE6"/>
                </a:solidFill>
                <a:latin typeface="Cambria" charset="0"/>
                <a:cs typeface="Cambria" charset="0"/>
              </a:rPr>
              <a:t>Material completo confidencial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2340000"/>
            <a:ext cx="2178000" cy="27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20000" y="252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20000" y="257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000" y="338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DUE DILIGENCE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20000" y="3888000"/>
            <a:ext cx="181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84000" y="3995999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0EDE6"/>
                </a:solidFill>
                <a:latin typeface="Cambria" charset="0"/>
                <a:cs typeface="Cambria" charset="0"/>
              </a:rPr>
              <a:t>Acesso ao projeto executivo e jurídico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000" y="2340000"/>
            <a:ext cx="2178000" cy="27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70000" y="252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0000" y="257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00" y="338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CONTRATO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70000" y="3888000"/>
            <a:ext cx="181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34000" y="3995999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0EDE6"/>
                </a:solidFill>
                <a:latin typeface="Cambria" charset="0"/>
                <a:cs typeface="Cambria" charset="0"/>
              </a:rPr>
              <a:t>Contrato de Investimento estruturado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40000" y="2340000"/>
            <a:ext cx="2178000" cy="27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20000" y="2520000"/>
            <a:ext cx="720000" cy="720000"/>
          </a:xfrm>
          <a:prstGeom prst="ellipse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20000" y="2574000"/>
            <a:ext cx="720000" cy="6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Cambria" charset="0"/>
                <a:cs typeface="Cambria" charset="0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4000" y="3384000"/>
            <a:ext cx="189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 charset="0"/>
                <a:cs typeface="Calibri" charset="0"/>
              </a:rPr>
              <a:t>APORTE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20000" y="3888000"/>
            <a:ext cx="1818000" cy="0"/>
          </a:xfrm>
          <a:prstGeom prst="line">
            <a:avLst/>
          </a:prstGeom>
          <a:ln w="1016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84000" y="3995999"/>
            <a:ext cx="189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0EDE6"/>
                </a:solidFill>
                <a:latin typeface="Cambria" charset="0"/>
                <a:cs typeface="Cambria" charset="0"/>
              </a:rPr>
              <a:t>Capital com Garantia Real ativa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0000" y="5400000"/>
            <a:ext cx="11088000" cy="900000"/>
          </a:xfrm>
          <a:prstGeom prst="roundRect">
            <a:avLst>
              <a:gd name="adj" fmla="val 6000"/>
            </a:avLst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2000" y="550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A0A0A"/>
                </a:solidFill>
                <a:latin typeface="Calibri" charset="0"/>
                <a:cs typeface="Calibri" charset="0"/>
              </a:rPr>
              <a:t>ROUND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000" y="5760000"/>
            <a:ext cx="104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0A0A0A"/>
                </a:solidFill>
                <a:latin typeface="Cambria" charset="0"/>
                <a:cs typeface="Cambria" charset="0"/>
              </a:rPr>
              <a:t>R$ 10 milhões  ·  janela exclusiva como sócio fundador da Fase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6498000"/>
            <a:ext cx="54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9A9A9A"/>
                </a:solidFill>
                <a:latin typeface="Calibri" charset="0"/>
                <a:cs typeface="Calibri" charset="0"/>
              </a:rPr>
              <a:t>GSWP  ·  KV  ·  HAMAM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52119" y="6498000"/>
            <a:ext cx="900000" cy="133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pt-BR" sz="800" spc="200" dirty="0">
                <a:solidFill>
                  <a:srgbClr val="9A9A9A"/>
                </a:solidFill>
                <a:latin typeface="Calibri" charset="0"/>
                <a:cs typeface="Calibri" charset="0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or-do-sol-na-praia-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720000"/>
            <a:ext cx="7200000" cy="309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600" dirty="0">
                <a:solidFill>
                  <a:srgbClr val="00C2B3"/>
                </a:solidFill>
                <a:latin typeface="Calibri" charset="0"/>
                <a:cs typeface="Calibri" charset="0"/>
              </a:rPr>
              <a:t>JUBIABÁ</a:t>
            </a:r>
            <a:endParaRPr lang="pt-BR" sz="900" b="1" i="0" spc="600" dirty="0">
              <a:solidFill>
                <a:srgbClr val="00C2B3"/>
              </a:solidFill>
              <a:latin typeface="Calibri" charset="0"/>
              <a:cs typeface="Calibri" charset="0"/>
            </a:endParaRPr>
          </a:p>
          <a:p>
            <a:pPr algn="l">
              <a:lnSpc>
                <a:spcPct val="115000"/>
              </a:lnSpc>
            </a:pPr>
            <a:endParaRPr sz="900" b="1" i="0" spc="600" dirty="0">
              <a:solidFill>
                <a:srgbClr val="00C2B3"/>
              </a:solidFill>
              <a:latin typeface="Calibri" charset="0"/>
              <a:cs typeface="Calibri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0000" y="972000"/>
            <a:ext cx="1980000" cy="0"/>
          </a:xfrm>
          <a:prstGeom prst="line">
            <a:avLst/>
          </a:prstGeom>
          <a:ln w="15240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0000" y="2160000"/>
            <a:ext cx="1116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 i="0" spc="1500">
                <a:solidFill>
                  <a:srgbClr val="FFFFFF"/>
                </a:solidFill>
                <a:latin typeface="Cambria" charset="0"/>
                <a:cs typeface="Cambria" charset="0"/>
              </a:rPr>
              <a:t>OBRIGADO.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420000"/>
            <a:ext cx="1116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1">
                <a:solidFill>
                  <a:srgbClr val="F0EDE6"/>
                </a:solidFill>
                <a:latin typeface="Cambria" charset="0"/>
                <a:cs typeface="Cambria" charset="0"/>
              </a:rPr>
              <a:t>A próxima fronteira do luxo no Nordeste</a:t>
            </a:r>
          </a:p>
          <a:p>
            <a:pPr algn="l">
              <a:lnSpc>
                <a:spcPct val="140000"/>
              </a:lnSpc>
            </a:pPr>
            <a:r>
              <a:rPr sz="2400" b="0" i="1">
                <a:solidFill>
                  <a:srgbClr val="F0EDE6"/>
                </a:solidFill>
                <a:latin typeface="Cambria" charset="0"/>
                <a:cs typeface="Cambria" charset="0"/>
              </a:rPr>
              <a:t>começa agora.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0000" y="4788000"/>
            <a:ext cx="11087999" cy="0"/>
          </a:xfrm>
          <a:prstGeom prst="line">
            <a:avLst/>
          </a:prstGeom>
          <a:ln w="9525">
            <a:solidFill>
              <a:srgbClr val="00C2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0000" y="4860000"/>
            <a:ext cx="111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800">
                <a:solidFill>
                  <a:srgbClr val="FFFFFF"/>
                </a:solidFill>
                <a:latin typeface="Calibri" charset="0"/>
                <a:cs typeface="Calibri" charset="0"/>
              </a:rPr>
              <a:t>GSWP    ×    KONIGSBERGER VANNUCCHI    ×    HAMAM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5472000"/>
            <a:ext cx="11088000" cy="900000"/>
          </a:xfrm>
          <a:prstGeom prst="roundRect">
            <a:avLst>
              <a:gd name="adj" fmla="val 6000"/>
            </a:avLst>
          </a:prstGeom>
          <a:solidFill>
            <a:srgbClr val="0C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0000" y="5472000"/>
            <a:ext cx="43200" cy="900000"/>
          </a:xfrm>
          <a:prstGeom prst="rect">
            <a:avLst/>
          </a:prstGeom>
          <a:solidFill>
            <a:srgbClr val="00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000" y="5580000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00C2B3"/>
                </a:solidFill>
                <a:latin typeface="Calibri" charset="0"/>
                <a:cs typeface="Calibri" charset="0"/>
              </a:rPr>
              <a:t>CONTATO  ·  ROUND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832000"/>
            <a:ext cx="1044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0EDE6"/>
                </a:solidFill>
                <a:latin typeface="Cambria" charset="0"/>
                <a:cs typeface="Cambria" charset="0"/>
              </a:rPr>
              <a:t>investimento@gswp.com.br   ·   www.gswp.com.br   ·   Bruno Zanuto  · 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6660000"/>
            <a:ext cx="11112119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i="1">
                <a:solidFill>
                  <a:srgbClr val="555555"/>
                </a:solidFill>
                <a:latin typeface="Calibri" charset="0"/>
                <a:cs typeface="Calibri" charset="0"/>
              </a:rPr>
              <a:t>Material informativo confidencial. Projeções baseadas em análise de mercado e histórico de valorização. Retornos passados não garantem resultados futuros. Consulte o prospecto completo.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4620</Words>
  <Application>Microsoft Office PowerPoint</Application>
  <PresentationFormat>Widescreen</PresentationFormat>
  <Paragraphs>1011</Paragraphs>
  <Slides>49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</dc:creator>
  <cp:keywords/>
  <dc:description>generated using python-pptx</dc:description>
  <cp:lastModifiedBy>gabriel breier</cp:lastModifiedBy>
  <cp:revision>3</cp:revision>
  <dcterms:created xsi:type="dcterms:W3CDTF">2013-01-27T09:14:16Z</dcterms:created>
  <dcterms:modified xsi:type="dcterms:W3CDTF">2026-04-29T19:26:49Z</dcterms:modified>
  <cp:category/>
</cp:coreProperties>
</file>