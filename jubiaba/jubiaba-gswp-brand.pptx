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ESTRUTURA NARRATIVA INSTITUCIONAL — VERSÃO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905000"/>
            <a:ext cx="12192000" cy="857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0" b="0" i="0" spc="400">
                <a:solidFill>
                  <a:srgbClr val="FAF8F4"/>
                </a:solidFill>
                <a:latin typeface="Cormorant Garamond"/>
              </a:rPr>
              <a:t>JUBIABÁ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57500"/>
            <a:ext cx="12192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1">
                <a:solidFill>
                  <a:srgbClr val="C4A84A"/>
                </a:solidFill>
                <a:latin typeface="Cormorant Garamond"/>
              </a:rPr>
              <a:t>A Próxima Fronteira do Luxo no Nordeste</a:t>
            </a:r>
          </a:p>
        </p:txBody>
      </p:sp>
      <p:sp>
        <p:nvSpPr>
          <p:cNvPr id="7" name="Diamond 6"/>
          <p:cNvSpPr/>
          <p:nvPr/>
        </p:nvSpPr>
        <p:spPr>
          <a:xfrm>
            <a:off x="6048375" y="35242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57775" y="3571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76975" y="3571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810000"/>
            <a:ext cx="76200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Um território raro no momento exato da transformação do litoral brasileiro.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81250" y="4572000"/>
            <a:ext cx="2286000" cy="85725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1250" y="4705350"/>
            <a:ext cx="2286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B8942E"/>
                </a:solidFill>
                <a:latin typeface="Cormorant Garamond"/>
              </a:rPr>
              <a:t>250 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5124450"/>
            <a:ext cx="228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 spc="200">
                <a:solidFill>
                  <a:srgbClr val="9A9490"/>
                </a:solidFill>
                <a:latin typeface="DM Sans"/>
              </a:rPr>
              <a:t>ÁREA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3000" y="4572000"/>
            <a:ext cx="2286000" cy="85725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3000" y="4705350"/>
            <a:ext cx="2286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B8942E"/>
                </a:solidFill>
                <a:latin typeface="Cormorant Garamond"/>
              </a:rPr>
              <a:t>1.070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0" y="5124450"/>
            <a:ext cx="228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 spc="200">
                <a:solidFill>
                  <a:srgbClr val="9A9490"/>
                </a:solidFill>
                <a:latin typeface="DM Sans"/>
              </a:rPr>
              <a:t>FRENTE-MAR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4750" y="4572000"/>
            <a:ext cx="2286000" cy="85725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4750" y="4705350"/>
            <a:ext cx="2286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 i="0">
                <a:solidFill>
                  <a:srgbClr val="B8942E"/>
                </a:solidFill>
                <a:latin typeface="Cormorant Garamond"/>
              </a:rPr>
              <a:t>R$ 2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0" y="5124450"/>
            <a:ext cx="2286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 spc="200">
                <a:solidFill>
                  <a:srgbClr val="9A9490"/>
                </a:solidFill>
                <a:latin typeface="DM Sans"/>
              </a:rPr>
              <a:t>VGV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9055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 spc="200">
                <a:solidFill>
                  <a:srgbClr val="F0EDE6"/>
                </a:solidFill>
                <a:latin typeface="DM Sans"/>
              </a:rPr>
              <a:t>GSWP   ×   KÖNIGSBERGER VANNUCCHI   ×   HAMAM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MUNDO ESTÁ MUDANDO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capital, as pessoas e o luxo estão migrando.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mundo vive uma transformação estrutural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grandes centros urbanos perderam 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trabalho tornou-se distribuído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luxo passou a valorizar espaço, natureza e tempo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o capital começou a migrar para territórios ainda não saturados. O novo desejo global: qualidade de vida integrada à segurança, natureza e bem-estar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FINANCIAL TIMES — Londres perde população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LUXO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luxo do futuro não será densidade. Será qualidade de vida.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global de alto padrão passa por uma transição: menos ostentação. Mais experiência, privacidade e bem-estar.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quiet luxury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low density living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 real estate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second-home economy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longevity living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regenerative destinations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BofA / THE RIO TIMES — Brazil: The New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BRASIL VOLTOU AO RADAR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capital internacional voltou a enxergar valor no Brasil.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Com ativos ainda descontados em relação ao cenário global, o Brasil voltou ao radar de investidores internacionais em busca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ativos reais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proteção patrimonial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arbitragem cambial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territórios com alto potencial de valorização. Destaques: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fluxo estrangeiro crescente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valorização de ativos reais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mercado imobiliário resiliente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brasileiro no radar internacional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BofA / THE RIO TIMES — Brazil: The New 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NORDESTE ENTROU EM UM NOVO 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Nordeste deixou de ser apenas turismo. Tornou-se plataforma patrimonial e residencial.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crescimento recente do Nordeste é impulsionado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turismo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segunda residência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migração patrimonial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energia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economia azul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de vida. Destaques: +85% mercado de luxo no Nordeste em 2 anos +20,5% crescimento de lançamentos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CBIC — Luxo no NE +85%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MERCADO JÁ VALIDOU O NORDESTE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Bahia e Alagoas já passaram pelo ciclo de explosão imobiliária.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já consolidou o valor do litoral premium nordestino. A próxima grande assimetria territorial ainda não plenamente precificada está em Sergipe.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CBIC — Luxo no NE +85%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SERGIPE: O ÚLTIMO LITORAL AINDA NÃO PRECIFICADO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já validou o Nordeste. O que ainda não validou completamente é Sergipe.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Sergipe reúne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preservado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 crescente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preços ainda significativamente inferiores aos estados vizinhos. Isso cria uma rara janela de entrada antecipada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DESENVOLVE-SE — Turismo como nova fronteira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SEGURANÇA COMO NOVO LUXO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Segurança tornou-se ativo imobiliário.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Em um cenário global de saturação urbana e aumento da insegurança, cidades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106680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estabilidade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qualidade de vida passam a capturar capital residencial e patrimonial. Aracaju e Sergipe posicionam-se entre os estados mais seguros do Nordeste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CAPITAL MAIS SUBPRECIFICADA DO LITORAL NORDESTINO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Aracaju combina segurança, qualidade de vida e preços ainda descontados.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Enquanto capitais vizinhas atingiram níveis elevados de precificação imobiliária, Aracaju ainda apresenta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custo relativo inferior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preservado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mobilidade urbana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forte potencial de convergência de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GOVERNO SE — Aeroporto em volume recorde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EIXO DE EXPANSÃO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grandes ciclos imobiliários começam nas bordas urbanas. Mapa: Atalaia → Aruana → Mosqueiro → Estância → Jubiabá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expansão urbana e imobiliária do litoral sul segue a lógica histórica dos grandes ciclos costeiros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expansão da demanda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ESTÂNCIA: O NOVO MOTOR ECONÔMICO DO LITORAL SUL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Turismo, indústria, energia e infraestrutura convergem no mesmo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Estância consolida-se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polo industrial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vetor energético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eixo logístico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principal conexão econômica do litoral sul sergipano. Destaques: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gás natural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indústria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exportação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turismo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PREFEITURA DE ESTÂNCIA — 45% das exportações de 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PONTE QUE MUDA 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Quando o deslocamento muda, o comportamento urbano muda. ANTES: 45 minutos Destino de final de semana DEPOIS: 15 minutos Potencial de primeira residência premium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nova conexão viária acelera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urbanização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demanda 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frequência de uso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valorização territorial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REUTERS / PETROBRAS — Sergipe Águas Profundas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PRAIA DO SACO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cartão-postal mais desejado de Sergipe.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Praia do Saco consolidou-se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principal destino premium do estado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referência turística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símbolo de exclusividade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eixo aspiracional do litoral sul. Seu reconhecimento valida o desejo e o potencial do território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EVOLUÇÃO NATURAL DO LITORAL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Praia do Saco consolidou o desejo. Jubiabá representa a próxima evolução.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grandes ciclos imobiliários premium expandem-se para territórios vizinhos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maior 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melhor planejamento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infraestrutura integrada. Jubiabá nasce exatamente nesse ponto de transição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ÚLTIMO GRANDE ESTOQUE FRENTE-MAR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Escassez territorial absoluta.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Territórios contínuos frente-mar praticamente não existem mais no Nordeste em escala compatível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masterplan integrado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living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urbanismo de baixa densidade. Jubiabá representa uma rara exceção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JUBIABÁ NÃO É UM EMPREENDIMENTO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Jubiabá é um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Mais do que um projeto imobiliário, Jubiabá nasce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plataforma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distrito costeiro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ecossistema de hospitalidade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polo de longevidade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vetor de transformação urbana do litoral sul sergipano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LITORAL CURATIVO DO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Quiet luxury tropical.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Jubiabá nasce no encontro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arquitetura biofílica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regeneração ambiental. Um novo conceito de luxo costeiro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MAIOR ASSIMETRIA TERRITORIAL DO NORDESTE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Entrar antes da precificação.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já validou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Nordeste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luxo costeiro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lifestyle de baixa densidade. O que ainda não precificou completamente: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Sergipe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 litoral sul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a expansão territorial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MASTERPLAN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distrito costeiro integrado. Componentes: ● branded residences; ● beach club; ● wellness; ● hospitality; ● villas; ● apartamentos; ● áreas verdes; ● experiências.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01 — 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ENCERRAMENTO DO PRIMEIRO BLOCO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patrimônios territoriais do mundo nasceram antes do consenso. Texto final: Jubiabá representa a convergência entre: ● transformação global de comportamento; ● expansão territorial; ● qualidade de vida; ● infraestrutura; ● e entrada antecipada em um dos últimos litorais premium ainda não plenamente precificados do Nordeste brasileiro.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LOCALIZAÇÃO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No encontro entre turismo, infraestrutura e expansão territorial.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Jubiabá está localizado no litoral sul de Sergipe, próximo aos principais vetores de crescimento da região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Aracaju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Praia do Saco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Mangue Seco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Linha Verde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polo industrial de Estância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novo eixo de mobilidade do litoral sul. Destaques: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proximidade com aeroporto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integração rodoviária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expansão urbana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turismo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conexão regional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GOVERNO SE — Aeroporto em volume recorde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UM TERRITÓRIO RARO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dos últimos grandes territórios contínuos frente-mar do Nordeste.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Em um cenário de escassez fundiária costeira, Jubiabá reúne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continuidade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frente-mar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 preservada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baixa densidade. Características praticamente inexistentes nos principais mercados consolidados do Nordeste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ESCALA DE 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Escala comparável aos maiores destinos premium do Brasil.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Para dimensionar o potencial territorial do projeto, o perímetro de Jubiabá foi comparado a referências como Jurerê Internacional. A diferença: Jubiabá nasce antes da plena precificação.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10668000" cy="354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129 hectares fase inicial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expansão futura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frente-mar contínua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potencial de desenvolvimento integrado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NATUREZA COMO ATIVO ECONÔMICO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novo luxo nasce da preservação.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valor dos destinos premium contemporâneos está diretamente ligado 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 preservada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ambiental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paisagem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autenticidade territorial. Em Jubiabá, a natureza não é obstáculo. É o principal ativo estratégico do projeto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LUXO COSTEIRO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Quiet Luxury Tropical.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novo consumidor de alta renda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privacidade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bem-estar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arquitetura integrada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 autênticas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conexão com a natureza. Jubiabá nasce alinhado às principais tendências globais 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 real estate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regenerative living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longevity destinations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LITORAL CURATIVO DO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território desenhado para longevidade e bem-estar.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combinação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ventos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clima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ambiental cria um território naturalmente conectado ao conceito de: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active longevity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de vida costeira. Conceitos: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física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emocional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intelectual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cura financeira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NOVA GERAÇÃO DE DESTINOS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global migra para territórios regenerativos.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novos destinos premium do mundo compartilham características semelhantes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arquitetura autoral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identidade territorial. Benchmarks: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Comporta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Costa Smeralda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Punta Mita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Trancoso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Tulum original. Narrativa: Jubiabá nasce dentro dessa nova geração global de destinos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MASTERPLAN INTEGRADO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ecossistema costeiro completo.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masterplan foi concebido para integrar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beach club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áreas verdes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infraestrutura. Mais do que um empreendimento: um distrito costeiro planejado desde a origem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VISÃO URBANÍSTICA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Planejar antes da expansão é o que cria valor de longo prazo.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maiores destinos premium do mundo compartilham uma característica: foram planejados antes da saturação. Jubiabá nasce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visão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integração paisagística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lógica urbana sustentável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BAIXA DENSIDADE COMO 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verdadeiro luxo contemporâneo é espaço.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Enquanto grandes destinos sofrem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adensamento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saturação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trânsito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perda de identidade; Jubiabá nasce baseado em: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amplitude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paisagem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qualidade espacial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EXPERIÊNCIA 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território desenhado para viver. Componentes: ● wellness; ● esportes; ● gastronomia; ● hospitalidade; ● experiências; ● natureza; ● beach living; ● slow living; ● active lifestyle.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HOSPITALIDADE COMO MOTOR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Destinos premium são construídos através da experiência.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integração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hotelaria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residences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beach club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wellness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experiências aumenta: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percepção de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ticket médio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recorrência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valorização imobiliária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BRANDED LIVING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convergência entre hospitalidade e residencial.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global caminha para modelos híbridos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moradia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hotelaria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serviços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experiências premium. Jubiabá nasce preparado para capturar essa tendência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BEACH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centro social do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Mais do que lazer, o beach club funciona como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ativador de comunidade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motor de experiência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fortalecimento de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vetor de lifestyle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WELLNESS &amp; LONGEVITY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próxima década será liderada pelo mercado de bem-estar.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Longevidade ativa, medicina integrativa, wellness e qualidade de vida tornam-se pilares centrais do novo mercado imobiliário global. Jubiabá nasce alinhado a essa transformação estrutural.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ECONOMIA AZUL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mar como plataforma econômica do futuro.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Turismo, energia, gastronomia, esporte, hospitalidade e sustentabilidade convergem no conceito de economia azul. Sergipe entra nesse ciclo impulsionado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10668000" cy="354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gás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energia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turismo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FUTURO DA PRIMEIRA RESIDÊNCIA COSTEIRA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litoral deixa de ser apenas destino de férias.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Infraestrutura, segurança, mobilidade e qualidade de vida transformam o litoral sul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106680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alternativa 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eixo habitacional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novo vetor urbano. A ponte e a nova mobilidade aceleram esse processo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DISTRITO COSTEIRO DO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Jubiabá nasce para décadas.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projeto foi concebido não apenas para lançamento imobiliário, mas 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106680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construção de marca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valorização de longo prazo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transformação urbana sustentável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ainda não precificou essa transformação.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investidor entra em um momento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 em expansão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valorização inicial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transformação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baixa precificação relativa. A maior captura de valor acontece antes do consenso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02 — O TERRITÓRIO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TRANSIÇÃO PARA O BLOCO FINANCEIRO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Territórios raros geram valor exponencial quando encontram infraestrutura, narrativa e execução.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INVESTIMENTO MAIS VALIOSO DO CICLO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retornos imobiliários acontecem antes da plena descoberta do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imobiliário premium possui uma dinâmica recorrente: o maior ganho de capital acontece na fase em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 começa a convergir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território ainda está subprecificado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o mercado institucional ainda não chegou completamente. Jubiabá posiciona-se exatamente nesse momento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CONVERGÊNCIA DE PREÇO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começou a corrigir a assimetria de Sergipe. Tabela institucional: Mercado Faixa de m² Premium Salvador frente-mar R$ 30–35 mil/m² Maceió frente-mar R$ 30–35 mil/m² Aracaju 2024 R$ 10–12 mil/m² Aracaju 2026 (lançamentos premium) R$ 17–19 mil/m² Jubiabá Entrada territorial antecipada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imobiliário premium nordestino já consolidou múltiplos elevados em estados vizinhos como Bahia e Alagoas. Aracaju iniciou recentemente seu movimento de convergência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67050"/>
            <a:ext cx="5143500" cy="3314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acelerado do m²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valorização do litoral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expansão do mercado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reposicionamento da capital no cenário nordestino. Jubiabá posiciona-se antes da plena convergência territorial do litoral sul sergipano. Frase de fechamento: “O mercado já começou a corrigir Sergipe. Jubiabá representa a entrada antes da maturidade completa do ciclo.” Objetivo psicológico: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067050"/>
            <a:ext cx="5143500" cy="3314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mostrar que a valorização já começou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validar tendência real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posicionar Jubiabá como “early entry”. Visual recomendado: gráfico ascendente: Bahia/Alagoas → Aracaju → vetor sul → Jubiabá. Destaque visual: “Entrada territorial antecipada” em dourado/branco premium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DE VALORIZAÇÃO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Infraestrutura → Narrativa → Demanda → Valorização Fluxo visual: 1. Infraestrutura 2. Mobilidade 3. Turismo premium 4. Primeira residência 5. Branding territorial 6. Hospitalidade 7. Valorização exponencial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Destinos premium não valorizam apenas por localização. Valorizam pela convergência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desejo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escassez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execução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EIXO HABITACIONAL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litoral sul deixa de ser apenas destino turístico.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nova infraestrutura, mobilidade e crescimento econômico transformam a região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vetor de primeira residência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polo de lifestyle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eixo residencial costeiro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natural da capital. Impactos: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aumento de demanda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frequência de uso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de liquidez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aceleração de valorização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PODER DA ESCASSEZ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Territórios contínuos frente-mar praticamente não existem mais.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principal driver de valorização imobiliária premium no mundo é: escassez territorial. Jubiabá combina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continuidade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frente-mar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possibilidade de masterplan integrado. Características extremamente raras no mercado atual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COMPARÁVEIS GLOBAIS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grandes patrimônios costeiros começaram como territórios subprecificados. Benchmarks: ● Jurerê; ● Comporta; ● Costa Smeralda; ● Punta Mita; ● Trancoso; ● Tulum original.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Todos os grandes ciclos de valorização costeira começaram antes da consolidação da narrativa coletiva.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DO 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Entrada antecipada em um ciclo de múltiplas décadas. Linha do tempo: 2026–2030 Implantação e narrativa 2030–2035 Consolidação territorial 2035–2045 Distrito costeiro maduro 2045+ Legado territorial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construção de valor territorial acontece progressivamente através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branding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densificação qualificada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MOTOR DE VALORIZAÇÃO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valor não está apenas no produto. Está na transformação territorial.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Jubiabá captura simultaneamente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valorização fundiária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turístico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expansão urbana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aumento de renda regional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mudança de comportamento residencial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MODELO ECONÔMICO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Diversificação de receita e múltiplos motores de geração de valor. Estrutura: ● residencial; ● branded residences; ● hotelaria; ● condo-hotel; ● beach club; ● wellness; ● eventos; ● experiências; ● recorrência operacional.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PODER DA HOSPITALIDADE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Hospitalidade premium acelera valorização imobiliária.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Projetos integrados de hospitality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aumentam percepção de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elevam ticket médio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fortalecem liquidez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ampliam recorrência de receita. A presença de operadores e experiências premium transforma o ativo imobiliário em destino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NOVO MERCADO DE LONGEVITY &amp; WELLNESS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Wellness Real Estate é uma das maiores tendências globais da próxima década.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mercado global de wellness real estate ultrapassa centenas de bilhões de dólares impulsionado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active aging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medicina integrativa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de vida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longevidade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destinos regenerativos. Jubiabá nasce alinhado estruturalmente a esse movimento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VELOCIDADE COMO VANTAGEM COMPETITIVA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Tempo é um dos maiores ativos financeiros do mercado imobiliário.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sistema construtivo da GSWP permite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velocidade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previsibilidade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eficiência operacional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antecipação de receita. Impactos financeiros: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menor custo indireto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giro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ganho de TIR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redução de exposição inflacionária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PAREDE CONCRETADA IN LOCO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Engenharia orientada à performance.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sistema proprietário de parede concretada in loco oferece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padronização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velocidade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escalabilidade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eficiência estrutural. Capacidade de redução significativa do prazo de obra em comparação aos modelos tradicionais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EFEITO DA VELOCIDADE NA 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Quanto mais rápido o ciclo, maior o retorno potencial. Fluxo visual: Velocidade → Receita antecipada → Menor custo financeiro → Maior retorno.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No mercado imobiliário premium, velocidade de execução impacta diretamente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fluxo de caixa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risco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eficiência de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F0EDE6"/>
                </a:solidFill>
                <a:latin typeface="Cormorant Garamond"/>
              </a:rPr>
              <a:t>OPORTUNIDADE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28750"/>
            <a:ext cx="1066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C4A84A"/>
                </a:solidFill>
                <a:latin typeface="Cormorant Garamond"/>
              </a:rPr>
              <a:t>Entrar antes da institucionalização plena do território.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2500" y="2381250"/>
            <a:ext cx="3238500" cy="247650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26670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 spc="200">
                <a:solidFill>
                  <a:srgbClr val="B8942E"/>
                </a:solidFill>
                <a:latin typeface="DM Sans"/>
              </a:rPr>
              <a:t>EXPLORER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38500"/>
            <a:ext cx="3238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FAF8F4"/>
                </a:solidFill>
                <a:latin typeface="Cormorant Garamond"/>
              </a:rPr>
              <a:t>R$ 300 mil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05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54,57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28625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200">
                <a:solidFill>
                  <a:srgbClr val="9A9490"/>
                </a:solidFill>
                <a:latin typeface="DM Sans"/>
              </a:rPr>
              <a:t>ÁREA PRIVATIVA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6750" y="2381250"/>
            <a:ext cx="3238500" cy="247650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76750" y="2381250"/>
            <a:ext cx="3238500" cy="38100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6750" y="26670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 spc="200">
                <a:solidFill>
                  <a:srgbClr val="B8942E"/>
                </a:solidFill>
                <a:latin typeface="DM Sans"/>
              </a:rPr>
              <a:t>FOUNDER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6750" y="3238500"/>
            <a:ext cx="3238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FAF8F4"/>
                </a:solidFill>
                <a:latin typeface="Cormorant Garamond"/>
              </a:rPr>
              <a:t>R$ 1,2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750" y="3905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266,80 m²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6750" y="428625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200">
                <a:solidFill>
                  <a:srgbClr val="9A9490"/>
                </a:solidFill>
                <a:latin typeface="DM Sans"/>
              </a:rPr>
              <a:t>ÁREA PRIVATIVA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81250"/>
            <a:ext cx="3238500" cy="247650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26670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 spc="200">
                <a:solidFill>
                  <a:srgbClr val="B8942E"/>
                </a:solidFill>
                <a:latin typeface="DM Sans"/>
              </a:rPr>
              <a:t>LEGACY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238500"/>
            <a:ext cx="32385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0" i="0">
                <a:solidFill>
                  <a:srgbClr val="FAF8F4"/>
                </a:solidFill>
                <a:latin typeface="Cormorant Garamond"/>
              </a:rPr>
              <a:t>R$ 2,1 mi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90525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525 m²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286250"/>
            <a:ext cx="3238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200">
                <a:solidFill>
                  <a:srgbClr val="9A9490"/>
                </a:solidFill>
                <a:latin typeface="DM Sans"/>
              </a:rPr>
              <a:t>ÁREA PRIVATIVA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DEMANDA REPRIMIDA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litoral sul possui demanda superior à oferta qualificada.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estudos de mercado apontam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escassez de produto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oferta estruturada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crescimento do público de alta renda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aumento do interesse por segunda residência e lifestyle costeiro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PRIMEIRA RESIDÊNCIA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maior upside pode vir da mudança de comportamento urbano.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nova infraestrutura transforma o litoral sul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alternativa residencial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eixo de moradia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lifestyle permanente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natural da capital. Essa transição aumenta significativamente: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profundidade de demanda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liquidez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valor territorial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DE CAPTAÇÃO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Quem entra antes da narrativa consolidada captura o maior múltiplo. Fluxo: Infraestrutura → Narrativa → Hospitalidade → Demanda → Valorização → Institucionalização.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processo de valorização territorial ocorre em etapas previsíveis. Jubiabá posiciona-se antes da fase de plena institucionalização.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OPORTUNIDADE DE LONGO PRAZO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patrimônios imobiliários são construídos em décadas.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criação de valor territorial não acontece apenas no lançamento. Ela se acumula através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reputação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urbanização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consolidação de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TRANSIÇÃO PARA EXECUÇÃO E GOVERNANÇA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Transformações territoriais exigem capacidade de execução.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CICLO DE VALORIZAÇÃO DE ARACAJU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 capital começou sua reprecificação imobiliária.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Aracaju passou anos operando abaixo do potencial de precificação observado em capitais litorâneas comparáveis do Nordeste. Nos últimos ciclos, o mercado iniciou um movimento acelerado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38450"/>
            <a:ext cx="10668000" cy="3543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valorização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reposicionamento do mercado premium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crescimento de lançamentos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aumento da percepção de qualidade de vida. Destaques: 2024: R$ 10–12 mil/m² 2026: R$ 17–19 mil/m² em lançamentos premium Texto de fechamento: A aceleração do m² premium da capital representa apenas o início do movimento de convergência imobiliária de Sergipe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EFEITO CASCATA DO LITORAL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ciclos imobiliários premium expandem-se territorialmente. Fluxo visual: Atalaia → Aruana → Mosqueiro → Litoral Sul → Jubiabá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principais mercados premium do Brasil seguiram lógica semelhante: a valorização começa nos polos consolidados e avança progressivamente para territórios vizinhos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067050"/>
            <a:ext cx="10668000" cy="3314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maior 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menor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potencial de expansão. Jubiabá posiciona-se exatamente nessa próxima etapa do ciclo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MOVIMENTO QUE JÁ ACONTECEU EM OUTROS MERCADOS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maiores ciclos imobiliários costeiros seguiram a mesma lógica. Comparações: ● Jurerê → Norte da Ilha; ● Barra → Recreio; ● Praia do Forte → Imbassaí; ● Trancoso → Caraíva; ● Balneário → Praia Brava.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expansão territorial premium acontece quando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o mercado consolidado encarece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 demanda cresce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investidores começam a buscar a próxima fronteira de valorização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OPORTUNIDADE ESTÁ NA ANTECIPAÇÃO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maior múltiplo está na entrada antes do consenso.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Após a consolidação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os preços convergem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 arbitragem desaparece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o upside reduz significativamente. A maior captura de valor acontece: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antes da maturidade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antes da saturação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antes da institucionalização plena. Jubiabá ainda está nessa fase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EXPLOSÃO DOS DESTINOS COSTEIROS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mercado premium busca territórios raros.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Nos últimos anos, os maiores crescimentos imobiliários do Brasil ocorreram em destinos 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natureza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lifestyle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escassez territorial. O mercado premium migra progressivamente para: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de vida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territórios integrados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NOVA ECONOMIA DA QUALIDADE DE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Segurança, natureza e mobilidade tornam-se ativos econômicos.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próxima geração de valorização imobiliária será impulsionada por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bem-estar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mobilidade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clima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longevidade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baixa densidade. Sergipe reúne exatamente esses atributos em um momento ainda inicial de precificação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CLIMATE &amp; LIFESTYLE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mundo migra para territórios mais leves, seguros e sustentáveis.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Profissionais, investidores e famílias começam a deixar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centros urbanos saturados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cidades caras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ambientes inseguros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mercados hiperadensados. O fluxo global passa a favorecer: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cidades costeiras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smart districts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destinos regenerativos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territórios com alta qualidade de vida. Jubiabá nasce alinhado a essa mudança estrutural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FINANCIAL TIMES — Climate &amp; lifestyle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BRASIL COMO DESTINO RESIDENCIAL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Brasil volta a atrair capital residencial internacional.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país começa a 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imigração qualificada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capital estrangeiro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investidores patrimoniais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compradores internacionais em busca de: segurança relativa, natureza, clima, e custo de vida competitivo. O litoral nordestino entra progressivamente nesse 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BofA / THE RIO TIMES — Brazil: The New Gold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SERGIPE COMO O NOVO OUTLIER POSITIVO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estado mais subprecificado entre os mercados costeiros premium do Nordeste.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Enquanto outros estados já passaram por ciclos intensos de valorização, Sergipe ainda apresenta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preços inferiores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litoral preservado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crescimento econômico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895600"/>
            <a:ext cx="51435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segurança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de infraestrutura. Essa combinação cria uma rara assimetria positiva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627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 spc="100">
                <a:solidFill>
                  <a:srgbClr val="B8942E"/>
                </a:solidFill>
                <a:latin typeface="DM Sans"/>
              </a:rPr>
              <a:t>FONTE: PODER360 — Sergipe +315% em gás natural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JUBIABÁ COMO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Mais do que um empreendimento. Uma entrada antecipada em um novo ciclo territorial.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investidor não entra apenas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 lote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uma unidade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ou um condomínio. Ele entra em: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 território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 vetor de crescimento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uma transformação urbana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um novo ciclo do litoral brasileiro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NOVA GERAÇÃO DE PATRIMÔNIO IMOBILIÁRIO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Os grandes patrimônios do futuro serão construídos em territórios raros.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combinação 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escassez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qualidade ambiental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baixa densidade tende a gerar os ativos imobiliários mais resilientes das próximas décadas. Jubiabá nasce dentro dessa 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03 — 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TRANSIÇÃO PARA EXECUÇÃO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Transformações territoriais exigem capacidade real de execução.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0"/>
            <a:ext cx="99060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0" i="0">
                <a:solidFill>
                  <a:srgbClr val="FAF8F4"/>
                </a:solidFill>
                <a:latin typeface="Cormorant Garamond"/>
              </a:rPr>
              <a:t>GRANDES TERRITÓRIOS EXIGEM GRANDES EXECUTORES</a:t>
            </a:r>
          </a:p>
        </p:txBody>
      </p:sp>
      <p:sp>
        <p:nvSpPr>
          <p:cNvPr id="5" name="Diamond 4"/>
          <p:cNvSpPr/>
          <p:nvPr/>
        </p:nvSpPr>
        <p:spPr>
          <a:xfrm>
            <a:off x="6048375" y="4476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577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6975" y="4524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5000" y="4667250"/>
            <a:ext cx="83820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Visão sem execução não captura valor.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TRÍADE EXECUTORA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Arquitetura, engenharia e hospitalidade integradas desde a origem. Estrutura visual: GSWP Incorporação • Governança • Engenharia Königsberger Vannucchi Masterplan • Urbanismo • Arquitetura Hamam Global Hospitalidade • Experiência • Lifestyle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integração dessas competências permite construir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produto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território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experiência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valorização de longo 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GSWP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Engenharia orientada à performance.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GSWP atua 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incorporação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governança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estruturação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execução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industrialização construtiva. Diferenciais: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parede concretada in loco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velocidade construtiva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previsibilidade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ganho operacional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escalabilidade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SISTEMA CONSTRUTIVO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Industrialização aplicada ao mercado imobiliário premium.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sistema de parede concretada in loco permite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aceleração do cronograma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ganho de escala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padronização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controle de qualidade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eficiência financeira. Impactos: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redução de prazo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maior giro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menor exposição inflacionária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antecipação de 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VELOCIDADE COMO VANTAGEM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tempo é um dos maiores ativos financeiros da incorporação.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velocidade de implantação impacta diretamente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TIR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fluxo de caixa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capacidade de expansão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retorno sobre capital investido. Em mercados de valorização acelerada, velocidade significa captura antecipada de valor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KÖNIGSBERGER VANNUCCHI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Uma das maiores referências em arquitetura e urbanismo do Brasil.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53 anos de atuação. 893 projetos. Milhões de metros quadrados desenvolvidos. A KV traz ao Jubiabá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895600"/>
            <a:ext cx="10668000" cy="3486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masterplan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urbanismo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arquitetura integrada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visão territorial de longo prazo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ARQUITETURA COMO MOTOR DE VALORIZAÇÃO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Destinos premium são construídos através de identidade.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projetos imobiliários mais resilientes do mundo compartilham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106680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arquitetura autoral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integração paisagística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baixa densidade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coerência territorial. Arquitetura deixa de ser apenas estética. Passa a ser ferramenta de branding e valorização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HAMAM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Hospitalidade internacional aplicada ao território.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Hamam Global atua 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hotelaria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branded hospitality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experiências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lifestyle premium. Experiência internacional: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+250 hotéis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+70 marcas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hubs internacionais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atuação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HOSPITALIDADE COMO INFRAESTRUTURA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destino é construído através da experiência.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Hospitalidade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aumenta reputação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fortalece marca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acelera demanda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amplia ticket médio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transforma o empreendimento em destino. Jubiabá nasce integrado a essa lógica desde o início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GOVERNANÇA INSTITUCIONAL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Estruturação voltada para segurança e previsibilidade.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A governança do projeto contempla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estrutura societária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patrimônio de afetação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segregação patrimonial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auditoria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compliance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proteção jurídica do investidor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SEGURANÇA JURÍDICA E ESTRUTURAÇÃO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Crescimento com proteção institucional.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projeto foi estruturado para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transparência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rastreabilidade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governança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escalabilidade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capacidade de expansão futura. Estruturas possíveis: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SPE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SCP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S.A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FII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veículos híbridos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ROADMAP DE DESENVOLVIMENTO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Construção progressiva de valor territorial. Linha do tempo: ● licenciamento; ● infraestrutura; ● primeira fase; ● hospitality; ● expansão; ● consolidação do distrito costeiro.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valor do território tende a crescer progressivamente conforme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1066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urbanização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B8942E"/>
                </a:solidFill>
                <a:latin typeface="DM Sans"/>
              </a:rPr>
              <a:t>◆  </a:t>
            </a:r>
            <a:r>
              <a:rPr sz="1400">
                <a:solidFill>
                  <a:srgbClr val="F0EDE6"/>
                </a:solidFill>
                <a:latin typeface="DM Sans"/>
              </a:rPr>
              <a:t>e branding territorial avançam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FASEAMENTO E ESCALABILIDADE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Crescimento estruturado e adaptável.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 desenvolvimento em fases permite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controle de capital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adaptação ao mercado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preservação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otimização de retorno. A expansão acompanha: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495550"/>
            <a:ext cx="514350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demanda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absorção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maturação do território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OPORTUNIDADE DE INSTITUCIONALIZAÇÃO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O território ainda está antes da consolidação institucional plena.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grandes investidores normalmente entram após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 consolidada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aumento de preço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validação territorial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maturidade operacional. Jubiabá ainda se encontra na fase 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724150"/>
            <a:ext cx="51435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construção narrativa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implantação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expansão inicial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O ECOSSISTEMA 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Um projeto pensado para décadas. Componentes: ● residencial; ● branded living; ● wellness; ● hospitality; ● clube; ● experiências; ● eventos; ● e expansão territorial.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21907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2383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84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Mais do que um empreendimento, Jubiabá nasce como ecossistema de valorização contínua.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952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spc="300">
                <a:solidFill>
                  <a:srgbClr val="B8942E"/>
                </a:solidFill>
                <a:latin typeface="DM Sans"/>
              </a:rPr>
              <a:t>BLOCO 04 — EXECUÇÃO E 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0EDE6"/>
                </a:solidFill>
                <a:latin typeface="Cormorant Garamond"/>
              </a:rPr>
              <a:t>A CONSTRUÇÃO DE UM DESTINO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85900"/>
            <a:ext cx="10668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4A84A"/>
                </a:solidFill>
                <a:latin typeface="Cormorant Garamond"/>
              </a:rPr>
              <a:t>Grandes destinos não surgem. São construídos.</a:t>
            </a:r>
          </a:p>
        </p:txBody>
      </p:sp>
      <p:sp>
        <p:nvSpPr>
          <p:cNvPr id="6" name="Diamond 5"/>
          <p:cNvSpPr/>
          <p:nvPr/>
        </p:nvSpPr>
        <p:spPr>
          <a:xfrm>
            <a:off x="1571625" y="19621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0225" y="20097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09800"/>
            <a:ext cx="1066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0EDE6"/>
                </a:solidFill>
                <a:latin typeface="DM Sans"/>
              </a:rPr>
              <a:t>Os maiores territórios premium do mundo foram desenvolvidos ao longo de décadas através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visão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infraestrutura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branding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667000"/>
            <a:ext cx="5143500" cy="3714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hospitalidade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>
                <a:solidFill>
                  <a:srgbClr val="B8942E"/>
                </a:solidFill>
                <a:latin typeface="DM Sans"/>
              </a:rPr>
              <a:t>◆  </a:t>
            </a:r>
            <a:r>
              <a:rPr sz="1300">
                <a:solidFill>
                  <a:srgbClr val="F0EDE6"/>
                </a:solidFill>
                <a:latin typeface="DM Sans"/>
              </a:rPr>
              <a:t>e consistência de execução. Jubiabá nasce com essa visão desde a origem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solidFill>
            <a:srgbClr val="B8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3825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 spc="400">
                <a:solidFill>
                  <a:srgbClr val="B8942E"/>
                </a:solidFill>
                <a:latin typeface="DM Sans"/>
              </a:rPr>
              <a:t>JUBIABÁ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09750"/>
            <a:ext cx="9906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0" i="0">
                <a:solidFill>
                  <a:srgbClr val="B8942E"/>
                </a:solidFill>
                <a:latin typeface="Cormorant Garamond"/>
              </a:rPr>
              <a:t>O mercado já validou o Nordeste. O próximo ciclo começa em Sergipe.</a:t>
            </a:r>
          </a:p>
        </p:txBody>
      </p:sp>
      <p:sp>
        <p:nvSpPr>
          <p:cNvPr id="6" name="Diamond 5"/>
          <p:cNvSpPr/>
          <p:nvPr/>
        </p:nvSpPr>
        <p:spPr>
          <a:xfrm>
            <a:off x="6048375" y="3143250"/>
            <a:ext cx="95250" cy="95250"/>
          </a:xfrm>
          <a:prstGeom prst="diamond">
            <a:avLst/>
          </a:prstGeom>
          <a:solidFill>
            <a:srgbClr val="B8942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57775" y="3190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76975" y="3190875"/>
            <a:ext cx="857250" cy="19050"/>
          </a:xfrm>
          <a:prstGeom prst="rect">
            <a:avLst/>
          </a:prstGeom>
          <a:solidFill>
            <a:srgbClr val="B8942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8750" y="3619500"/>
            <a:ext cx="2190750" cy="85725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R$ 2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VGV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10000" y="3619500"/>
            <a:ext cx="2190750" cy="85725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250 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ÁREA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1250" y="3619500"/>
            <a:ext cx="2190750" cy="85725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125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1.070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FRENTE-MAR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72500" y="3619500"/>
            <a:ext cx="2190750" cy="857250"/>
          </a:xfrm>
          <a:prstGeom prst="rect">
            <a:avLst/>
          </a:prstGeom>
          <a:solidFill>
            <a:srgbClr val="2C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0" y="3752850"/>
            <a:ext cx="219075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 i="0">
                <a:solidFill>
                  <a:srgbClr val="B8942E"/>
                </a:solidFill>
                <a:latin typeface="Cormorant Garamond"/>
              </a:rPr>
              <a:t>3,5×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0" y="4171950"/>
            <a:ext cx="21907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RETORNO OTIMISTA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4953000"/>
            <a:ext cx="1219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 spc="200">
                <a:solidFill>
                  <a:srgbClr val="F0EDE6"/>
                </a:solidFill>
                <a:latin typeface="DM Sans"/>
              </a:rPr>
              <a:t>GSWP × KÖNIGSBERGER VANNUCCHI × HAMAM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3340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 spc="100">
                <a:solidFill>
                  <a:srgbClr val="9A9490"/>
                </a:solidFill>
                <a:latin typeface="DM Sans"/>
              </a:rPr>
              <a:t>Material Confidencial — Apresentação Institucional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572250"/>
            <a:ext cx="121920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 spc="150">
                <a:solidFill>
                  <a:srgbClr val="9A9490"/>
                </a:solidFill>
                <a:latin typeface="DM Sans"/>
              </a:rPr>
              <a:t>GSWP × KV × HAMAM GLOBAL · Material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